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5D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874519"/>
            <a:ext cx="12191695" cy="54864"/>
          </a:xfrm>
          <a:prstGeom prst="rect">
            <a:avLst/>
          </a:prstGeom>
          <a:solidFill>
            <a:srgbClr val="C89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194560"/>
            <a:ext cx="10362895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>
                <a:solidFill>
                  <a:srgbClr val="FFFFFF"/>
                </a:solidFill>
              </a:rPr>
              <a:t>PEHero User Guide</a:t>
            </a:r>
          </a:p>
          <a:p>
            <a:pPr algn="ctr">
              <a:spcBef>
                <a:spcPts val="1200"/>
              </a:spcBef>
            </a:pPr>
            <a:r>
              <a:rPr sz="1800">
                <a:solidFill>
                  <a:srgbClr val="F7F6F1"/>
                </a:solidFill>
              </a:rPr>
              <a:t>Your Private Equity AI Agent Squad</a:t>
            </a:r>
          </a:p>
          <a:p>
            <a:pPr algn="ctr">
              <a:spcBef>
                <a:spcPts val="1200"/>
              </a:spcBef>
            </a:pPr>
            <a:r>
              <a:rPr sz="1800">
                <a:solidFill>
                  <a:srgbClr val="F7F6F1"/>
                </a:solidFill>
              </a:rPr>
              <a:t>One chat interface, every PE workflow — sourcing through exit.</a:t>
            </a:r>
          </a:p>
          <a:p>
            <a:pPr algn="ctr">
              <a:spcBef>
                <a:spcPts val="1200"/>
              </a:spcBef>
            </a:pPr>
            <a:r>
              <a:rPr sz="1800">
                <a:solidFill>
                  <a:srgbClr val="F7F6F1"/>
                </a:solidFill>
              </a:rPr>
              <a:t>pehero.chat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5D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0" tIns="128016"/>
          <a:lstStyle/>
          <a:p>
            <a:pPr algn="ctr"/>
            <a:r>
              <a:rPr sz="2600" b="1">
                <a:solidFill>
                  <a:srgbClr val="FFFFFF"/>
                </a:solidFill>
              </a:rPr>
              <a:t>Contents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877824"/>
            <a:ext cx="109728" cy="36576"/>
          </a:xfrm>
          <a:prstGeom prst="rect">
            <a:avLst/>
          </a:prstGeom>
          <a:solidFill>
            <a:srgbClr val="C89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11185855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1" sz="1400">
                <a:solidFill>
                  <a:srgbClr val="174A35"/>
                </a:solidFill>
              </a:rPr>
              <a:t>Getting Started</a:t>
            </a:r>
            <a:r>
              <a:rPr sz="1400">
                <a:solidFill>
                  <a:srgbClr val="2C3E50"/>
                </a:solidFill>
              </a:rPr>
              <a:t> · Sign in, first chat, agent routing</a:t>
            </a: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174A35"/>
                </a:solidFill>
              </a:rPr>
              <a:t>Chat</a:t>
            </a:r>
            <a:r>
              <a:rPr sz="1400">
                <a:solidFill>
                  <a:srgbClr val="2C3E50"/>
                </a:solidFill>
              </a:rPr>
              <a:t> · 3-pane layout, agent categories, tables, charts, memo export</a:t>
            </a: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174A35"/>
                </a:solidFill>
              </a:rPr>
              <a:t>Pipeline</a:t>
            </a:r>
            <a:r>
              <a:rPr sz="1400">
                <a:solidFill>
                  <a:srgbClr val="2C3E50"/>
                </a:solidFill>
              </a:rPr>
              <a:t> · Kanban board, triage scoring, deal workspace, risk register, milestones</a:t>
            </a: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174A35"/>
                </a:solidFill>
              </a:rPr>
              <a:t>Companies</a:t>
            </a:r>
            <a:r>
              <a:rPr sz="1400">
                <a:solidFill>
                  <a:srgbClr val="2C3E50"/>
                </a:solidFill>
              </a:rPr>
              <a:t> · Fuzzy search, sector filters, company detail</a:t>
            </a: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174A35"/>
                </a:solidFill>
              </a:rPr>
              <a:t>Investors</a:t>
            </a:r>
            <a:r>
              <a:rPr sz="1400">
                <a:solidFill>
                  <a:srgbClr val="2C3E50"/>
                </a:solidFill>
              </a:rPr>
              <a:t> · Family office &amp; investor prospecting, wealth data, company links</a:t>
            </a: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174A35"/>
                </a:solidFill>
              </a:rPr>
              <a:t>Portfolio</a:t>
            </a:r>
            <a:r>
              <a:rPr sz="1400">
                <a:solidFill>
                  <a:srgbClr val="2C3E50"/>
                </a:solidFill>
              </a:rPr>
              <a:t> · Dashboard, analytics, KPIs — 3-tab submenu</a:t>
            </a: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174A35"/>
                </a:solidFill>
              </a:rPr>
              <a:t>Valuation</a:t>
            </a:r>
            <a:r>
              <a:rPr sz="1400">
                <a:solidFill>
                  <a:srgbClr val="2C3E50"/>
                </a:solidFill>
              </a:rPr>
              <a:t> · DCF, comps, precedent, LBO simulator with WACC calculator</a:t>
            </a: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174A35"/>
                </a:solidFill>
              </a:rPr>
              <a:t>Data Room</a:t>
            </a:r>
            <a:r>
              <a:rPr sz="1400">
                <a:solidFill>
                  <a:srgbClr val="2C3E50"/>
                </a:solidFill>
              </a:rPr>
              <a:t> · Upload, index, RAG-powered document search</a:t>
            </a: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174A35"/>
                </a:solidFill>
              </a:rPr>
              <a:t>Analytics</a:t>
            </a:r>
            <a:r>
              <a:rPr sz="1400">
                <a:solidFill>
                  <a:srgbClr val="2C3E50"/>
                </a:solidFill>
              </a:rPr>
              <a:t> · Text-to-SQL, auto-charting, schema-aware queries</a:t>
            </a: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174A35"/>
                </a:solidFill>
              </a:rPr>
              <a:t>Instructions</a:t>
            </a:r>
            <a:r>
              <a:rPr sz="1400">
                <a:solidFill>
                  <a:srgbClr val="2C3E50"/>
                </a:solidFill>
              </a:rPr>
              <a:t> · Live-edit agent prompts — no redeploy needed</a:t>
            </a: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174A35"/>
                </a:solidFill>
              </a:rPr>
              <a:t>Training</a:t>
            </a:r>
            <a:r>
              <a:rPr sz="1400">
                <a:solidFill>
                  <a:srgbClr val="2C3E50"/>
                </a:solidFill>
              </a:rPr>
              <a:t> · PE Hero RPG game for deal-making practice</a:t>
            </a: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174A35"/>
                </a:solidFill>
              </a:rPr>
              <a:t>Configuration</a:t>
            </a:r>
            <a:r>
              <a:rPr sz="1400">
                <a:solidFill>
                  <a:srgbClr val="2C3E50"/>
                </a:solidFill>
              </a:rPr>
              <a:t> · Currency, language, integrations, profile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73952"/>
            <a:ext cx="11460175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B7278"/>
                </a:solidFill>
              </a:rPr>
              <a:t>PEHero — Your Private Equity AI Agent Squad · pehero.chat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5D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0" tIns="128016"/>
          <a:lstStyle/>
          <a:p>
            <a:pPr algn="ctr"/>
            <a:r>
              <a:rPr sz="2600" b="1">
                <a:solidFill>
                  <a:srgbClr val="FFFFFF"/>
                </a:solidFill>
              </a:rPr>
              <a:t>Getting Started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877824"/>
            <a:ext cx="109728" cy="36576"/>
          </a:xfrm>
          <a:prstGeom prst="rect">
            <a:avLst/>
          </a:prstGeom>
          <a:solidFill>
            <a:srgbClr val="C89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57607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2C3E50"/>
                </a:solidFill>
              </a:rPr>
              <a:t>• </a:t>
            </a:r>
            <a:r>
              <a:rPr b="1" sz="1400">
                <a:solidFill>
                  <a:srgbClr val="174A35"/>
                </a:solidFill>
              </a:rPr>
              <a:t>Open the app</a:t>
            </a:r>
            <a:r>
              <a:rPr sz="1400">
                <a:solidFill>
                  <a:srgbClr val="2C3E50"/>
                </a:solidFill>
              </a:rPr>
              <a:t> at </a:t>
            </a:r>
            <a:r>
              <a:rPr sz="1400">
                <a:solidFill>
                  <a:srgbClr val="1F5D43"/>
                </a:solidFill>
              </a:rPr>
              <a:t>pehero.chat/app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C3E50"/>
                </a:solidFill>
              </a:rPr>
              <a:t>• </a:t>
            </a:r>
            <a:r>
              <a:rPr b="1" sz="1400">
                <a:solidFill>
                  <a:srgbClr val="174A35"/>
                </a:solidFill>
              </a:rPr>
              <a:t>Sign in</a:t>
            </a:r>
            <a:r>
              <a:rPr sz="1400">
                <a:solidFill>
                  <a:srgbClr val="2C3E50"/>
                </a:solidFill>
              </a:rPr>
              <a:t> with Google or email/password (bottom of the left pane)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C3E50"/>
                </a:solidFill>
              </a:rPr>
              <a:t>• </a:t>
            </a:r>
            <a:r>
              <a:rPr b="1" sz="1400">
                <a:solidFill>
                  <a:srgbClr val="174A35"/>
                </a:solidFill>
              </a:rPr>
              <a:t>Type a prompt</a:t>
            </a:r>
            <a:r>
              <a:rPr sz="1400">
                <a:solidFill>
                  <a:srgbClr val="2C3E50"/>
                </a:solidFill>
              </a:rPr>
              <a:t> in the chat input — PEHero routes to the right specialist agent automatically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C3E50"/>
                </a:solidFill>
              </a:rPr>
              <a:t>• </a:t>
            </a:r>
            <a:r>
              <a:rPr b="1" sz="1400">
                <a:solidFill>
                  <a:srgbClr val="174A35"/>
                </a:solidFill>
              </a:rPr>
              <a:t>Browse agents</a:t>
            </a:r>
            <a:r>
              <a:rPr sz="1400">
                <a:solidFill>
                  <a:srgbClr val="2C3E50"/>
                </a:solidFill>
              </a:rPr>
              <a:t> in the left pane under the 5 PE workflow categories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C3E50"/>
                </a:solidFill>
              </a:rPr>
              <a:t>First time? Try: </a:t>
            </a:r>
            <a:r>
              <a:rPr i="1" sz="1400">
                <a:solidFill>
                  <a:srgbClr val="2C3E50"/>
                </a:solidFill>
              </a:rPr>
              <a:t>"Triage Northwind Systems for our fund"</a:t>
            </a:r>
            <a:r>
              <a:rPr sz="1400">
                <a:solidFill>
                  <a:srgbClr val="2C3E50"/>
                </a:solidFill>
              </a:rPr>
              <a:t> — the Deal Triage agent runs a full strategic fit analysis.</a:t>
            </a:r>
          </a:p>
        </p:txBody>
      </p:sp>
      <p:pic>
        <p:nvPicPr>
          <p:cNvPr id="5" name="Picture 4" descr="07-chat-emp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280160"/>
            <a:ext cx="5212080" cy="335062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6473952"/>
            <a:ext cx="11460175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B7278"/>
                </a:solidFill>
              </a:rPr>
              <a:t>PEHero — Your Private Equity AI Agent Squad · pehero.chat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5D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0" tIns="128016"/>
          <a:lstStyle/>
          <a:p>
            <a:pPr algn="ctr"/>
            <a:r>
              <a:rPr sz="2600" b="1">
                <a:solidFill>
                  <a:srgbClr val="FFFFFF"/>
                </a:solidFill>
              </a:rPr>
              <a:t>Chat — 3-Pane Layout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877824"/>
            <a:ext cx="109728" cy="36576"/>
          </a:xfrm>
          <a:prstGeom prst="rect">
            <a:avLst/>
          </a:prstGeom>
          <a:solidFill>
            <a:srgbClr val="C89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57607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2C3E50"/>
                </a:solidFill>
              </a:rPr>
              <a:t>The main interface has three panes: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C3E50"/>
                </a:solidFill>
              </a:rPr>
              <a:t>• </a:t>
            </a:r>
            <a:r>
              <a:rPr b="1" sz="1400">
                <a:solidFill>
                  <a:srgbClr val="174A35"/>
                </a:solidFill>
              </a:rPr>
              <a:t>Left pane</a:t>
            </a:r>
            <a:r>
              <a:rPr sz="1400">
                <a:solidFill>
                  <a:srgbClr val="2C3E50"/>
                </a:solidFill>
              </a:rPr>
              <a:t> — sessions, agent browser (5 categories), workspace navigation, configuration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C3E50"/>
                </a:solidFill>
              </a:rPr>
              <a:t>• </a:t>
            </a:r>
            <a:r>
              <a:rPr b="1" sz="1400">
                <a:solidFill>
                  <a:srgbClr val="174A35"/>
                </a:solidFill>
              </a:rPr>
              <a:t>Centre pane</a:t>
            </a:r>
            <a:r>
              <a:rPr sz="1400">
                <a:solidFill>
                  <a:srgbClr val="2C3E50"/>
                </a:solidFill>
              </a:rPr>
              <a:t> — conversation with streaming responses, inline tables, charts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C3E50"/>
                </a:solidFill>
              </a:rPr>
              <a:t>• </a:t>
            </a:r>
            <a:r>
              <a:rPr b="1" sz="1400">
                <a:solidFill>
                  <a:srgbClr val="174A35"/>
                </a:solidFill>
              </a:rPr>
              <a:t>Right pane</a:t>
            </a:r>
            <a:r>
              <a:rPr sz="1400">
                <a:solidFill>
                  <a:srgbClr val="2C3E50"/>
                </a:solidFill>
              </a:rPr>
              <a:t> — live PE news feed (PE Hub, Buyouts Insider, PE International, FT, Bloomberg)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C3E50"/>
                </a:solidFill>
              </a:rPr>
              <a:t>Agent routing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C3E50"/>
                </a:solidFill>
              </a:rPr>
              <a:t>Two ways to invoke a specialist: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C3E50"/>
                </a:solidFill>
              </a:rPr>
              <a:t>• </a:t>
            </a:r>
            <a:r>
              <a:rPr b="1" sz="1400">
                <a:solidFill>
                  <a:srgbClr val="174A35"/>
                </a:solidFill>
              </a:rPr>
              <a:t>Prefix</a:t>
            </a:r>
            <a:r>
              <a:rPr sz="1400">
                <a:solidFill>
                  <a:srgbClr val="2C3E50"/>
                </a:solidFill>
              </a:rPr>
              <a:t> — type </a:t>
            </a:r>
            <a:r>
              <a:rPr sz="1400">
                <a:solidFill>
                  <a:srgbClr val="174A35"/>
                </a:solidFill>
                <a:latin typeface="Consolas"/>
              </a:rPr>
              <a:t>triage:</a:t>
            </a:r>
            <a:r>
              <a:rPr sz="1400">
                <a:solidFill>
                  <a:srgbClr val="2C3E50"/>
                </a:solidFill>
              </a:rPr>
              <a:t>, </a:t>
            </a:r>
            <a:r>
              <a:rPr sz="1400">
                <a:solidFill>
                  <a:srgbClr val="174A35"/>
                </a:solidFill>
                <a:latin typeface="Consolas"/>
              </a:rPr>
              <a:t>lbo:</a:t>
            </a:r>
            <a:r>
              <a:rPr sz="1400">
                <a:solidFill>
                  <a:srgbClr val="2C3E50"/>
                </a:solidFill>
              </a:rPr>
              <a:t>, </a:t>
            </a:r>
            <a:r>
              <a:rPr sz="1400">
                <a:solidFill>
                  <a:srgbClr val="174A35"/>
                </a:solidFill>
                <a:latin typeface="Consolas"/>
              </a:rPr>
              <a:t>memo:</a:t>
            </a:r>
            <a:r>
              <a:rPr sz="1400">
                <a:solidFill>
                  <a:srgbClr val="2C3E50"/>
                </a:solidFill>
              </a:rPr>
              <a:t> etc. before your question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C3E50"/>
                </a:solidFill>
              </a:rPr>
              <a:t>• </a:t>
            </a:r>
            <a:r>
              <a:rPr b="1" sz="1400">
                <a:solidFill>
                  <a:srgbClr val="174A35"/>
                </a:solidFill>
              </a:rPr>
              <a:t>Auto</a:t>
            </a:r>
            <a:r>
              <a:rPr sz="1400">
                <a:solidFill>
                  <a:srgbClr val="2C3E50"/>
                </a:solidFill>
              </a:rPr>
              <a:t> — describe what you need in plain English; the router picks the best agent</a:t>
            </a:r>
          </a:p>
        </p:txBody>
      </p:sp>
      <p:pic>
        <p:nvPicPr>
          <p:cNvPr id="5" name="Picture 4" descr="08-chat-tri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280160"/>
            <a:ext cx="5212080" cy="335062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6473952"/>
            <a:ext cx="11460175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B7278"/>
                </a:solidFill>
              </a:rPr>
              <a:t>PEHero — Your Private Equity AI Agent Squad · pehero.chat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5D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0" tIns="128016"/>
          <a:lstStyle/>
          <a:p>
            <a:pPr algn="ctr"/>
            <a:r>
              <a:rPr sz="2600" b="1">
                <a:solidFill>
                  <a:srgbClr val="FFFFFF"/>
                </a:solidFill>
              </a:rPr>
              <a:t>Chat — Agent Categories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877824"/>
            <a:ext cx="109728" cy="36576"/>
          </a:xfrm>
          <a:prstGeom prst="rect">
            <a:avLst/>
          </a:prstGeom>
          <a:solidFill>
            <a:srgbClr val="C89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111858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2C3E50"/>
                </a:solidFill>
              </a:rPr>
              <a:t>PEHero's specialist agents cover every stage of the PE deal lifecycle: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783080"/>
          <a:ext cx="11185853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08322"/>
                <a:gridCol w="1789736"/>
                <a:gridCol w="6487795"/>
              </a:tblGrid>
              <a:tr h="7620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Category</a:t>
                      </a:r>
                    </a:p>
                  </a:txBody>
                  <a:tcPr marL="54864" marR="54864" marT="9144" marB="9144" anchor="ctr">
                    <a:solidFill>
                      <a:srgbClr val="1F5D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Agents</a:t>
                      </a:r>
                    </a:p>
                  </a:txBody>
                  <a:tcPr marL="54864" marR="54864" marT="9144" marB="9144" anchor="ctr">
                    <a:solidFill>
                      <a:srgbClr val="1F5D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Example Prefixes</a:t>
                      </a:r>
                    </a:p>
                  </a:txBody>
                  <a:tcPr marL="54864" marR="54864" marT="9144" marB="9144" anchor="ctr">
                    <a:solidFill>
                      <a:srgbClr val="1F5D43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b="1" sz="1000">
                          <a:solidFill>
                            <a:srgbClr val="174A35"/>
                          </a:solidFill>
                        </a:rPr>
                        <a:t>Sourcing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C3E50"/>
                          </a:solidFill>
                        </a:rPr>
                        <a:t>Market Scanner, Deal Triage, Comp Finder, Owner Intent, Outreach, LOI Writer, Deal Teaser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74A35"/>
                          </a:solidFill>
                          <a:latin typeface="Consolas"/>
                        </a:rPr>
                        <a:t>scan:</a:t>
                      </a:r>
                      <a:r>
                        <a:rPr sz="1000">
                          <a:solidFill>
                            <a:srgbClr val="2C3E50"/>
                          </a:solidFill>
                        </a:rPr>
                        <a:t>, </a:t>
                      </a:r>
                      <a:r>
                        <a:rPr sz="1000">
                          <a:solidFill>
                            <a:srgbClr val="174A35"/>
                          </a:solidFill>
                          <a:latin typeface="Consolas"/>
                        </a:rPr>
                        <a:t>triage:</a:t>
                      </a:r>
                      <a:r>
                        <a:rPr sz="1000">
                          <a:solidFill>
                            <a:srgbClr val="2C3E50"/>
                          </a:solidFill>
                        </a:rPr>
                        <a:t>, </a:t>
                      </a:r>
                      <a:r>
                        <a:rPr sz="1000">
                          <a:solidFill>
                            <a:srgbClr val="174A35"/>
                          </a:solidFill>
                          <a:latin typeface="Consolas"/>
                        </a:rPr>
                        <a:t>comps:</a:t>
                      </a:r>
                      <a:r>
                        <a:rPr sz="1000">
                          <a:solidFill>
                            <a:srgbClr val="2C3E50"/>
                          </a:solidFill>
                        </a:rPr>
                        <a:t>, </a:t>
                      </a:r>
                      <a:r>
                        <a:rPr sz="1000">
                          <a:solidFill>
                            <a:srgbClr val="174A35"/>
                          </a:solidFill>
                          <a:latin typeface="Consolas"/>
                        </a:rPr>
                        <a:t>loi: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b="1" sz="1000">
                          <a:solidFill>
                            <a:srgbClr val="174A35"/>
                          </a:solidFill>
                        </a:rPr>
                        <a:t>Underwriting</a:t>
                      </a:r>
                    </a:p>
                  </a:txBody>
                  <a:tcPr marL="54864" marR="54864" marT="9144" marB="9144" anchor="ctr">
                    <a:solidFill>
                      <a:srgbClr val="F0F5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C3E50"/>
                          </a:solidFill>
                        </a:rPr>
                        <a:t>LTM Normalizer, LBO Model, Pro Forma, Debt Stack, Return Metrics</a:t>
                      </a:r>
                    </a:p>
                  </a:txBody>
                  <a:tcPr marL="54864" marR="54864" marT="9144" marB="9144" anchor="ctr">
                    <a:solidFill>
                      <a:srgbClr val="F0F5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74A35"/>
                          </a:solidFill>
                          <a:latin typeface="Consolas"/>
                        </a:rPr>
                        <a:t>ltm:</a:t>
                      </a:r>
                      <a:r>
                        <a:rPr sz="1000">
                          <a:solidFill>
                            <a:srgbClr val="2C3E50"/>
                          </a:solidFill>
                        </a:rPr>
                        <a:t>, </a:t>
                      </a:r>
                      <a:r>
                        <a:rPr sz="1000">
                          <a:solidFill>
                            <a:srgbClr val="174A35"/>
                          </a:solidFill>
                          <a:latin typeface="Consolas"/>
                        </a:rPr>
                        <a:t>lbo:</a:t>
                      </a:r>
                      <a:r>
                        <a:rPr sz="1000">
                          <a:solidFill>
                            <a:srgbClr val="2C3E50"/>
                          </a:solidFill>
                        </a:rPr>
                        <a:t>, </a:t>
                      </a:r>
                      <a:r>
                        <a:rPr sz="1000">
                          <a:solidFill>
                            <a:srgbClr val="174A35"/>
                          </a:solidFill>
                          <a:latin typeface="Consolas"/>
                        </a:rPr>
                        <a:t>pf:</a:t>
                      </a:r>
                      <a:r>
                        <a:rPr sz="1000">
                          <a:solidFill>
                            <a:srgbClr val="2C3E50"/>
                          </a:solidFill>
                        </a:rPr>
                        <a:t>, </a:t>
                      </a:r>
                      <a:r>
                        <a:rPr sz="1000">
                          <a:solidFill>
                            <a:srgbClr val="174A35"/>
                          </a:solidFill>
                          <a:latin typeface="Consolas"/>
                        </a:rPr>
                        <a:t>debt:</a:t>
                      </a:r>
                    </a:p>
                  </a:txBody>
                  <a:tcPr marL="54864" marR="54864" marT="9144" marB="9144" anchor="ctr">
                    <a:solidFill>
                      <a:srgbClr val="F0F5F1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b="1" sz="1000">
                          <a:solidFill>
                            <a:srgbClr val="174A35"/>
                          </a:solidFill>
                        </a:rPr>
                        <a:t>Diligence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C3E50"/>
                          </a:solidFill>
                        </a:rPr>
                        <a:t>VDR Auditor, Contract Abstractor, Legal, Ops DD, ESG Risk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74A35"/>
                          </a:solidFill>
                          <a:latin typeface="Consolas"/>
                        </a:rPr>
                        <a:t>vdr:</a:t>
                      </a:r>
                      <a:r>
                        <a:rPr sz="1000">
                          <a:solidFill>
                            <a:srgbClr val="2C3E50"/>
                          </a:solidFill>
                        </a:rPr>
                        <a:t>, </a:t>
                      </a:r>
                      <a:r>
                        <a:rPr sz="1000">
                          <a:solidFill>
                            <a:srgbClr val="174A35"/>
                          </a:solidFill>
                          <a:latin typeface="Consolas"/>
                        </a:rPr>
                        <a:t>contracts:</a:t>
                      </a:r>
                      <a:r>
                        <a:rPr sz="1000">
                          <a:solidFill>
                            <a:srgbClr val="2C3E50"/>
                          </a:solidFill>
                        </a:rPr>
                        <a:t>, </a:t>
                      </a:r>
                      <a:r>
                        <a:rPr sz="1000">
                          <a:solidFill>
                            <a:srgbClr val="174A35"/>
                          </a:solidFill>
                          <a:latin typeface="Consolas"/>
                        </a:rPr>
                        <a:t>legal: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b="1" sz="1000">
                          <a:solidFill>
                            <a:srgbClr val="174A35"/>
                          </a:solidFill>
                        </a:rPr>
                        <a:t>Capital</a:t>
                      </a:r>
                    </a:p>
                  </a:txBody>
                  <a:tcPr marL="54864" marR="54864" marT="9144" marB="9144" anchor="ctr">
                    <a:solidFill>
                      <a:srgbClr val="F0F5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C3E50"/>
                          </a:solidFill>
                        </a:rPr>
                        <a:t>IC Memo Writer, LP Update, Fundraising CRM</a:t>
                      </a:r>
                    </a:p>
                  </a:txBody>
                  <a:tcPr marL="54864" marR="54864" marT="9144" marB="9144" anchor="ctr">
                    <a:solidFill>
                      <a:srgbClr val="F0F5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74A35"/>
                          </a:solidFill>
                          <a:latin typeface="Consolas"/>
                        </a:rPr>
                        <a:t>memo:</a:t>
                      </a:r>
                      <a:r>
                        <a:rPr sz="1000">
                          <a:solidFill>
                            <a:srgbClr val="2C3E50"/>
                          </a:solidFill>
                        </a:rPr>
                        <a:t>, </a:t>
                      </a:r>
                      <a:r>
                        <a:rPr sz="1000">
                          <a:solidFill>
                            <a:srgbClr val="174A35"/>
                          </a:solidFill>
                          <a:latin typeface="Consolas"/>
                        </a:rPr>
                        <a:t>lp:</a:t>
                      </a:r>
                      <a:r>
                        <a:rPr sz="1000">
                          <a:solidFill>
                            <a:srgbClr val="2C3E50"/>
                          </a:solidFill>
                        </a:rPr>
                        <a:t>, </a:t>
                      </a:r>
                      <a:r>
                        <a:rPr sz="1000">
                          <a:solidFill>
                            <a:srgbClr val="174A35"/>
                          </a:solidFill>
                          <a:latin typeface="Consolas"/>
                        </a:rPr>
                        <a:t>crm:</a:t>
                      </a:r>
                    </a:p>
                  </a:txBody>
                  <a:tcPr marL="54864" marR="54864" marT="9144" marB="9144" anchor="ctr">
                    <a:solidFill>
                      <a:srgbClr val="F0F5F1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b="1" sz="1000">
                          <a:solidFill>
                            <a:srgbClr val="174A35"/>
                          </a:solidFill>
                        </a:rPr>
                        <a:t>Portfolio Ops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C3E50"/>
                          </a:solidFill>
                        </a:rPr>
                        <a:t>Pricing Optimizer, EBITDA Variance, Value Creation, Customer Churn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74A35"/>
                          </a:solidFill>
                          <a:latin typeface="Consolas"/>
                        </a:rPr>
                        <a:t>pricing:</a:t>
                      </a:r>
                      <a:r>
                        <a:rPr sz="1000">
                          <a:solidFill>
                            <a:srgbClr val="2C3E50"/>
                          </a:solidFill>
                        </a:rPr>
                        <a:t>, </a:t>
                      </a:r>
                      <a:r>
                        <a:rPr sz="1000">
                          <a:solidFill>
                            <a:srgbClr val="174A35"/>
                          </a:solidFill>
                          <a:latin typeface="Consolas"/>
                        </a:rPr>
                        <a:t>opex:</a:t>
                      </a:r>
                      <a:r>
                        <a:rPr sz="1000">
                          <a:solidFill>
                            <a:srgbClr val="2C3E50"/>
                          </a:solidFill>
                        </a:rPr>
                        <a:t>, </a:t>
                      </a:r>
                      <a:r>
                        <a:rPr sz="1000">
                          <a:solidFill>
                            <a:srgbClr val="174A35"/>
                          </a:solidFill>
                          <a:latin typeface="Consolas"/>
                        </a:rPr>
                        <a:t>vcb:</a:t>
                      </a:r>
                      <a:r>
                        <a:rPr sz="1000">
                          <a:solidFill>
                            <a:srgbClr val="2C3E50"/>
                          </a:solidFill>
                        </a:rPr>
                        <a:t>, </a:t>
                      </a:r>
                      <a:r>
                        <a:rPr sz="1000">
                          <a:solidFill>
                            <a:srgbClr val="174A35"/>
                          </a:solidFill>
                          <a:latin typeface="Consolas"/>
                        </a:rPr>
                        <a:t>churn: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65760" y="6473952"/>
            <a:ext cx="11460175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B7278"/>
                </a:solidFill>
              </a:rPr>
              <a:t>PEHero — Your Private Equity AI Agent Squad · pehero.chat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5D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0" tIns="128016"/>
          <a:lstStyle/>
          <a:p>
            <a:pPr algn="ctr"/>
            <a:r>
              <a:rPr sz="2600" b="1">
                <a:solidFill>
                  <a:srgbClr val="FFFFFF"/>
                </a:solidFill>
              </a:rPr>
              <a:t>Chat — Tables &amp; Data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877824"/>
            <a:ext cx="109728" cy="36576"/>
          </a:xfrm>
          <a:prstGeom prst="rect">
            <a:avLst/>
          </a:prstGeom>
          <a:solidFill>
            <a:srgbClr val="C89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57607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2C3E50"/>
                </a:solidFill>
              </a:rPr>
              <a:t>When agents return tabular data (financials, comps, models), the table appears inline with: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C3E50"/>
                </a:solidFill>
              </a:rPr>
              <a:t>• </a:t>
            </a:r>
            <a:r>
              <a:rPr b="1" sz="1400">
                <a:solidFill>
                  <a:srgbClr val="174A35"/>
                </a:solidFill>
              </a:rPr>
              <a:t>First 5 rows</a:t>
            </a:r>
            <a:r>
              <a:rPr sz="1400">
                <a:solidFill>
                  <a:srgbClr val="2C3E50"/>
                </a:solidFill>
              </a:rPr>
              <a:t> shown — click </a:t>
            </a:r>
            <a:r>
              <a:rPr b="1" sz="1400">
                <a:solidFill>
                  <a:srgbClr val="174A35"/>
                </a:solidFill>
              </a:rPr>
              <a:t>See more</a:t>
            </a:r>
            <a:r>
              <a:rPr sz="1400">
                <a:solidFill>
                  <a:srgbClr val="2C3E50"/>
                </a:solidFill>
              </a:rPr>
              <a:t> to expand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C3E50"/>
                </a:solidFill>
              </a:rPr>
              <a:t>• </a:t>
            </a:r>
            <a:r>
              <a:rPr b="1" sz="1400">
                <a:solidFill>
                  <a:srgbClr val="174A35"/>
                </a:solidFill>
              </a:rPr>
              <a:t>Copy CSV</a:t>
            </a:r>
            <a:r>
              <a:rPr sz="1400">
                <a:solidFill>
                  <a:srgbClr val="2C3E50"/>
                </a:solidFill>
              </a:rPr>
              <a:t> — copy to clipboard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C3E50"/>
                </a:solidFill>
              </a:rPr>
              <a:t>• </a:t>
            </a:r>
            <a:r>
              <a:rPr b="1" sz="1400">
                <a:solidFill>
                  <a:srgbClr val="174A35"/>
                </a:solidFill>
              </a:rPr>
              <a:t>Download CSV</a:t>
            </a:r>
            <a:r>
              <a:rPr sz="1400">
                <a:solidFill>
                  <a:srgbClr val="2C3E50"/>
                </a:solidFill>
              </a:rPr>
              <a:t> — save as .csv file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C3E50"/>
                </a:solidFill>
              </a:rPr>
              <a:t>• </a:t>
            </a:r>
            <a:r>
              <a:rPr b="1" sz="1400">
                <a:solidFill>
                  <a:srgbClr val="174A35"/>
                </a:solidFill>
              </a:rPr>
              <a:t>Download XLS</a:t>
            </a:r>
            <a:r>
              <a:rPr sz="1400">
                <a:solidFill>
                  <a:srgbClr val="2C3E50"/>
                </a:solidFill>
              </a:rPr>
              <a:t> — save as formatted .xlsx with styled headers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C3E50"/>
                </a:solidFill>
              </a:rPr>
              <a:t>• </a:t>
            </a:r>
            <a:r>
              <a:rPr b="1" sz="1400">
                <a:solidFill>
                  <a:srgbClr val="174A35"/>
                </a:solidFill>
              </a:rPr>
              <a:t>Visualize</a:t>
            </a:r>
            <a:r>
              <a:rPr sz="1400">
                <a:solidFill>
                  <a:srgbClr val="2C3E50"/>
                </a:solidFill>
              </a:rPr>
              <a:t> — auto-generate a Plotly chart from the table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C3E50"/>
                </a:solidFill>
              </a:rPr>
              <a:t>Chart types (auto-selected)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C3E50"/>
                </a:solidFill>
              </a:rPr>
              <a:t>• Time series &lt;20 points → </a:t>
            </a:r>
            <a:r>
              <a:rPr b="1" sz="1400">
                <a:solidFill>
                  <a:srgbClr val="174A35"/>
                </a:solidFill>
              </a:rPr>
              <a:t>bar chart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C3E50"/>
                </a:solidFill>
              </a:rPr>
              <a:t>• Time series 20+ points → </a:t>
            </a:r>
            <a:r>
              <a:rPr b="1" sz="1400">
                <a:solidFill>
                  <a:srgbClr val="174A35"/>
                </a:solidFill>
              </a:rPr>
              <a:t>area/line chart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C3E50"/>
                </a:solidFill>
              </a:rPr>
              <a:t>• ≤8 categories → </a:t>
            </a:r>
            <a:r>
              <a:rPr b="1" sz="1400">
                <a:solidFill>
                  <a:srgbClr val="174A35"/>
                </a:solidFill>
              </a:rPr>
              <a:t>pie chart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C3E50"/>
                </a:solidFill>
              </a:rPr>
              <a:t>• &gt;8 categories → </a:t>
            </a:r>
            <a:r>
              <a:rPr b="1" sz="1400">
                <a:solidFill>
                  <a:srgbClr val="174A35"/>
                </a:solidFill>
              </a:rPr>
              <a:t>treemap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C3E50"/>
                </a:solidFill>
              </a:rPr>
              <a:t>• Multiple numeric columns → </a:t>
            </a:r>
            <a:r>
              <a:rPr b="1" sz="1400">
                <a:solidFill>
                  <a:srgbClr val="174A35"/>
                </a:solidFill>
              </a:rPr>
              <a:t>grouped bar chart</a:t>
            </a:r>
          </a:p>
        </p:txBody>
      </p:sp>
      <p:pic>
        <p:nvPicPr>
          <p:cNvPr id="5" name="Picture 4" descr="21-chat-table-trunca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280160"/>
            <a:ext cx="5212080" cy="335062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6473952"/>
            <a:ext cx="11460175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B7278"/>
                </a:solidFill>
              </a:rPr>
              <a:t>PEHero — Your Private Equity AI Agent Squad · pehero.chat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5D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0" tIns="128016"/>
          <a:lstStyle/>
          <a:p>
            <a:pPr algn="ctr"/>
            <a:r>
              <a:rPr sz="2600" b="1">
                <a:solidFill>
                  <a:srgbClr val="FFFFFF"/>
                </a:solidFill>
              </a:rPr>
              <a:t>Chat — Memo Export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877824"/>
            <a:ext cx="109728" cy="36576"/>
          </a:xfrm>
          <a:prstGeom prst="rect">
            <a:avLst/>
          </a:prstGeom>
          <a:solidFill>
            <a:srgbClr val="C89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57607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2C3E50"/>
                </a:solidFill>
              </a:rPr>
              <a:t>For memo-type agents (IC Memo, Deal Teaser, LP Update, LOI, Outreach Email):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C3E50"/>
                </a:solidFill>
              </a:rPr>
              <a:t>• </a:t>
            </a:r>
            <a:r>
              <a:rPr b="1" sz="1400">
                <a:solidFill>
                  <a:srgbClr val="174A35"/>
                </a:solidFill>
              </a:rPr>
              <a:t>Preview PDF</a:t>
            </a:r>
            <a:r>
              <a:rPr sz="1400">
                <a:solidFill>
                  <a:srgbClr val="2C3E50"/>
                </a:solidFill>
              </a:rPr>
              <a:t> — opens formatted PDF in a new tab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C3E50"/>
                </a:solidFill>
              </a:rPr>
              <a:t>• </a:t>
            </a:r>
            <a:r>
              <a:rPr b="1" sz="1400">
                <a:solidFill>
                  <a:srgbClr val="174A35"/>
                </a:solidFill>
              </a:rPr>
              <a:t>Download PDF</a:t>
            </a:r>
            <a:r>
              <a:rPr sz="1400">
                <a:solidFill>
                  <a:srgbClr val="2C3E50"/>
                </a:solidFill>
              </a:rPr>
              <a:t> — saves the PDF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C3E50"/>
                </a:solidFill>
              </a:rPr>
              <a:t>• </a:t>
            </a:r>
            <a:r>
              <a:rPr b="1" sz="1400">
                <a:solidFill>
                  <a:srgbClr val="174A35"/>
                </a:solidFill>
              </a:rPr>
              <a:t>Download Word</a:t>
            </a:r>
            <a:r>
              <a:rPr sz="1400">
                <a:solidFill>
                  <a:srgbClr val="2C3E50"/>
                </a:solidFill>
              </a:rPr>
              <a:t> — saves .docx with headings, tables, bullets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C3E50"/>
                </a:solidFill>
              </a:rPr>
              <a:t>Share &amp; Copy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C3E50"/>
                </a:solidFill>
              </a:rPr>
              <a:t>• </a:t>
            </a:r>
            <a:r>
              <a:rPr b="1" sz="1400">
                <a:solidFill>
                  <a:srgbClr val="174A35"/>
                </a:solidFill>
              </a:rPr>
              <a:t>Copy</a:t>
            </a:r>
            <a:r>
              <a:rPr sz="1400">
                <a:solidFill>
                  <a:srgbClr val="2C3E50"/>
                </a:solidFill>
              </a:rPr>
              <a:t> — copy the full chat to clipboard (markdown)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C3E50"/>
                </a:solidFill>
              </a:rPr>
              <a:t>• </a:t>
            </a:r>
            <a:r>
              <a:rPr b="1" sz="1400">
                <a:solidFill>
                  <a:srgbClr val="174A35"/>
                </a:solidFill>
              </a:rPr>
              <a:t>Share</a:t>
            </a:r>
            <a:r>
              <a:rPr sz="1400">
                <a:solidFill>
                  <a:srgbClr val="2C3E50"/>
                </a:solidFill>
              </a:rPr>
              <a:t> — generate a read-only link anyone can view without signing in</a:t>
            </a:r>
          </a:p>
        </p:txBody>
      </p:sp>
      <p:pic>
        <p:nvPicPr>
          <p:cNvPr id="5" name="Picture 4" descr="24-chat-memo-expor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280160"/>
            <a:ext cx="5212080" cy="335062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6473952"/>
            <a:ext cx="11460175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B7278"/>
                </a:solidFill>
              </a:rPr>
              <a:t>PEHero — Your Private Equity AI Agent Squad · pehero.chat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5D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0" tIns="128016"/>
          <a:lstStyle/>
          <a:p>
            <a:pPr algn="ctr"/>
            <a:r>
              <a:rPr sz="2600" b="1">
                <a:solidFill>
                  <a:srgbClr val="FFFFFF"/>
                </a:solidFill>
              </a:rPr>
              <a:t>Pipeline — Kanban Board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877824"/>
            <a:ext cx="109728" cy="36576"/>
          </a:xfrm>
          <a:prstGeom prst="rect">
            <a:avLst/>
          </a:prstGeom>
          <a:solidFill>
            <a:srgbClr val="C89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57607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2C3E50"/>
                </a:solidFill>
              </a:rPr>
              <a:t>The pipeline board shows all companies across deal stages:</a:t>
            </a: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174A35"/>
                </a:solidFill>
              </a:rPr>
              <a:t>Sourced → Screened → LOI → Diligence → IC → Signed → Closed → Held → Exited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C3E50"/>
                </a:solidFill>
              </a:rPr>
              <a:t>• Filter by </a:t>
            </a:r>
            <a:r>
              <a:rPr b="1" sz="1400">
                <a:solidFill>
                  <a:srgbClr val="174A35"/>
                </a:solidFill>
              </a:rPr>
              <a:t>sector</a:t>
            </a:r>
            <a:r>
              <a:rPr sz="1400">
                <a:solidFill>
                  <a:srgbClr val="2C3E50"/>
                </a:solidFill>
              </a:rPr>
              <a:t> or </a:t>
            </a:r>
            <a:r>
              <a:rPr b="1" sz="1400">
                <a:solidFill>
                  <a:srgbClr val="174A35"/>
                </a:solidFill>
              </a:rPr>
              <a:t>ownership</a:t>
            </a:r>
            <a:r>
              <a:rPr sz="1400">
                <a:solidFill>
                  <a:srgbClr val="2C3E50"/>
                </a:solidFill>
              </a:rPr>
              <a:t> type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C3E50"/>
                </a:solidFill>
              </a:rPr>
              <a:t>• Cards sorted by </a:t>
            </a:r>
            <a:r>
              <a:rPr b="1" sz="1400">
                <a:solidFill>
                  <a:srgbClr val="174A35"/>
                </a:solidFill>
              </a:rPr>
              <a:t>triage score</a:t>
            </a:r>
            <a:r>
              <a:rPr sz="1400">
                <a:solidFill>
                  <a:srgbClr val="2C3E50"/>
                </a:solidFill>
              </a:rPr>
              <a:t> (highest priority first)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C3E50"/>
                </a:solidFill>
              </a:rPr>
              <a:t>• Each card shows revenue, EBITDA, EV, multiple, seller-intent dot, and </a:t>
            </a:r>
            <a:r>
              <a:rPr b="1" sz="1400">
                <a:solidFill>
                  <a:srgbClr val="174A35"/>
                </a:solidFill>
              </a:rPr>
              <a:t>triage badge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C3E50"/>
                </a:solidFill>
              </a:rPr>
              <a:t>Triage scoring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C3E50"/>
                </a:solidFill>
              </a:rPr>
              <a:t>Every company gets a weighted priority score (1.0–5.0):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C3E50"/>
                </a:solidFill>
              </a:rPr>
              <a:t>• </a:t>
            </a:r>
            <a:r>
              <a:rPr b="1" sz="1400">
                <a:solidFill>
                  <a:srgbClr val="174A35"/>
                </a:solidFill>
              </a:rPr>
              <a:t>40%</a:t>
            </a:r>
            <a:r>
              <a:rPr sz="1400">
                <a:solidFill>
                  <a:srgbClr val="2C3E50"/>
                </a:solidFill>
              </a:rPr>
              <a:t> Impact · </a:t>
            </a:r>
            <a:r>
              <a:rPr b="1" sz="1400">
                <a:solidFill>
                  <a:srgbClr val="174A35"/>
                </a:solidFill>
              </a:rPr>
              <a:t>30%</a:t>
            </a:r>
            <a:r>
              <a:rPr sz="1400">
                <a:solidFill>
                  <a:srgbClr val="2C3E50"/>
                </a:solidFill>
              </a:rPr>
              <a:t> Strategic fit · </a:t>
            </a:r>
            <a:r>
              <a:rPr b="1" sz="1400">
                <a:solidFill>
                  <a:srgbClr val="174A35"/>
                </a:solidFill>
              </a:rPr>
              <a:t>20%</a:t>
            </a:r>
            <a:r>
              <a:rPr sz="1400">
                <a:solidFill>
                  <a:srgbClr val="2C3E50"/>
                </a:solidFill>
              </a:rPr>
              <a:t> Feasibility · </a:t>
            </a:r>
            <a:r>
              <a:rPr b="1" sz="1400">
                <a:solidFill>
                  <a:srgbClr val="174A35"/>
                </a:solidFill>
              </a:rPr>
              <a:t>10%</a:t>
            </a:r>
            <a:r>
              <a:rPr sz="1400">
                <a:solidFill>
                  <a:srgbClr val="2C3E50"/>
                </a:solidFill>
              </a:rPr>
              <a:t> Urgency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C3E50"/>
                </a:solidFill>
              </a:rPr>
              <a:t>• Badges: </a:t>
            </a:r>
            <a:r>
              <a:rPr b="1" sz="1400">
                <a:solidFill>
                  <a:srgbClr val="174A35"/>
                </a:solidFill>
              </a:rPr>
              <a:t>High</a:t>
            </a:r>
            <a:r>
              <a:rPr sz="1400">
                <a:solidFill>
                  <a:srgbClr val="2C3E50"/>
                </a:solidFill>
              </a:rPr>
              <a:t> (≥4.0, green) · </a:t>
            </a:r>
            <a:r>
              <a:rPr b="1" sz="1400">
                <a:solidFill>
                  <a:srgbClr val="174A35"/>
                </a:solidFill>
              </a:rPr>
              <a:t>Medium</a:t>
            </a:r>
            <a:r>
              <a:rPr sz="1400">
                <a:solidFill>
                  <a:srgbClr val="2C3E50"/>
                </a:solidFill>
              </a:rPr>
              <a:t> (≥3.0, amber) · </a:t>
            </a:r>
            <a:r>
              <a:rPr b="1" sz="1400">
                <a:solidFill>
                  <a:srgbClr val="174A35"/>
                </a:solidFill>
              </a:rPr>
              <a:t>Low</a:t>
            </a:r>
            <a:r>
              <a:rPr sz="1400">
                <a:solidFill>
                  <a:srgbClr val="2C3E50"/>
                </a:solidFill>
              </a:rPr>
              <a:t> (&lt;3.0, grey)</a:t>
            </a:r>
          </a:p>
        </p:txBody>
      </p:sp>
      <p:pic>
        <p:nvPicPr>
          <p:cNvPr id="5" name="Picture 4" descr="11-pipeline-kanb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280160"/>
            <a:ext cx="5212080" cy="335062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6473952"/>
            <a:ext cx="11460175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B7278"/>
                </a:solidFill>
              </a:rPr>
              <a:t>PEHero — Your Private Equity AI Agent Squad · pehero.chat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5D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0" tIns="128016"/>
          <a:lstStyle/>
          <a:p>
            <a:pPr algn="ctr"/>
            <a:r>
              <a:rPr sz="2600" b="1">
                <a:solidFill>
                  <a:srgbClr val="FFFFFF"/>
                </a:solidFill>
              </a:rPr>
              <a:t>Pipeline — Deal Workspace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877824"/>
            <a:ext cx="109728" cy="36576"/>
          </a:xfrm>
          <a:prstGeom prst="rect">
            <a:avLst/>
          </a:prstGeom>
          <a:solidFill>
            <a:srgbClr val="C89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57607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2C3E50"/>
                </a:solidFill>
              </a:rPr>
              <a:t>Click any card to open the deal workspace: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C3E50"/>
                </a:solidFill>
              </a:rPr>
              <a:t>• </a:t>
            </a:r>
            <a:r>
              <a:rPr b="1" sz="1400">
                <a:solidFill>
                  <a:srgbClr val="174A35"/>
                </a:solidFill>
              </a:rPr>
              <a:t>Centre</a:t>
            </a:r>
            <a:r>
              <a:rPr sz="1400">
                <a:solidFill>
                  <a:srgbClr val="2C3E50"/>
                </a:solidFill>
              </a:rPr>
              <a:t> — per-deal chat (ask agents about this specific company)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C3E50"/>
                </a:solidFill>
              </a:rPr>
              <a:t>• </a:t>
            </a:r>
            <a:r>
              <a:rPr b="1" sz="1400">
                <a:solidFill>
                  <a:srgbClr val="174A35"/>
                </a:solidFill>
              </a:rPr>
              <a:t>Right pane</a:t>
            </a:r>
            <a:r>
              <a:rPr sz="1400">
                <a:solidFill>
                  <a:srgbClr val="2C3E50"/>
                </a:solidFill>
              </a:rPr>
              <a:t> — deal brief with live data: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C3E50"/>
                </a:solidFill>
              </a:rPr>
              <a:t>Deal brief sections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C3E50"/>
                </a:solidFill>
              </a:rPr>
              <a:t>• </a:t>
            </a:r>
            <a:r>
              <a:rPr b="1" sz="1400">
                <a:solidFill>
                  <a:srgbClr val="174A35"/>
                </a:solidFill>
              </a:rPr>
              <a:t>Company info</a:t>
            </a:r>
            <a:r>
              <a:rPr sz="1400">
                <a:solidFill>
                  <a:srgbClr val="2C3E50"/>
                </a:solidFill>
              </a:rPr>
              <a:t> — sector, sub-sector, stage, triage score, HQ, employees, founded, ownership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C3E50"/>
                </a:solidFill>
              </a:rPr>
              <a:t>• </a:t>
            </a:r>
            <a:r>
              <a:rPr b="1" sz="1400">
                <a:solidFill>
                  <a:srgbClr val="174A35"/>
                </a:solidFill>
              </a:rPr>
              <a:t>LTM financials</a:t>
            </a:r>
            <a:r>
              <a:rPr sz="1400">
                <a:solidFill>
                  <a:srgbClr val="2C3E50"/>
                </a:solidFill>
              </a:rPr>
              <a:t> — revenue, EBITDA, margin, ask EV and multiple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C3E50"/>
                </a:solidFill>
              </a:rPr>
              <a:t>• </a:t>
            </a:r>
            <a:r>
              <a:rPr b="1" sz="1400">
                <a:solidFill>
                  <a:srgbClr val="174A35"/>
                </a:solidFill>
              </a:rPr>
              <a:t>Top customers</a:t>
            </a:r>
            <a:r>
              <a:rPr sz="1400">
                <a:solidFill>
                  <a:srgbClr val="2C3E50"/>
                </a:solidFill>
              </a:rPr>
              <a:t> — largest contracts by annual value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C3E50"/>
                </a:solidFill>
              </a:rPr>
              <a:t>• </a:t>
            </a:r>
            <a:r>
              <a:rPr b="1" sz="1400">
                <a:solidFill>
                  <a:srgbClr val="174A35"/>
                </a:solidFill>
              </a:rPr>
              <a:t>DD findings</a:t>
            </a:r>
            <a:r>
              <a:rPr sz="1400">
                <a:solidFill>
                  <a:srgbClr val="2C3E50"/>
                </a:solidFill>
              </a:rPr>
              <a:t> — severity-coded results from VDR Auditor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C3E50"/>
                </a:solidFill>
              </a:rPr>
              <a:t>• </a:t>
            </a:r>
            <a:r>
              <a:rPr b="1" sz="1400">
                <a:solidFill>
                  <a:srgbClr val="174A35"/>
                </a:solidFill>
              </a:rPr>
              <a:t>Risk register</a:t>
            </a:r>
            <a:r>
              <a:rPr sz="1400">
                <a:solidFill>
                  <a:srgbClr val="2C3E50"/>
                </a:solidFill>
              </a:rPr>
              <a:t> — P×I scored risks with category and mitigation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C3E50"/>
                </a:solidFill>
              </a:rPr>
              <a:t>• </a:t>
            </a:r>
            <a:r>
              <a:rPr b="1" sz="1400">
                <a:solidFill>
                  <a:srgbClr val="174A35"/>
                </a:solidFill>
              </a:rPr>
              <a:t>Milestones</a:t>
            </a:r>
            <a:r>
              <a:rPr sz="1400">
                <a:solidFill>
                  <a:srgbClr val="2C3E50"/>
                </a:solidFill>
              </a:rPr>
              <a:t> — progress bars, due dates, owner, status (done/overdue/open/blocked)</a:t>
            </a:r>
          </a:p>
        </p:txBody>
      </p:sp>
      <p:pic>
        <p:nvPicPr>
          <p:cNvPr id="5" name="Picture 4" descr="13-pipeline-d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280160"/>
            <a:ext cx="5212080" cy="335062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6473952"/>
            <a:ext cx="11460175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B7278"/>
                </a:solidFill>
              </a:rPr>
              <a:t>PEHero — Your Private Equity AI Agent Squad · pehero.chat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5D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0" tIns="128016"/>
          <a:lstStyle/>
          <a:p>
            <a:pPr algn="ctr"/>
            <a:r>
              <a:rPr sz="2600" b="1">
                <a:solidFill>
                  <a:srgbClr val="FFFFFF"/>
                </a:solidFill>
              </a:rPr>
              <a:t>Companies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877824"/>
            <a:ext cx="109728" cy="36576"/>
          </a:xfrm>
          <a:prstGeom prst="rect">
            <a:avLst/>
          </a:prstGeom>
          <a:solidFill>
            <a:srgbClr val="C89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57607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2C3E50"/>
                </a:solidFill>
              </a:rPr>
              <a:t>Search your entire company database at </a:t>
            </a:r>
            <a:r>
              <a:rPr sz="1400">
                <a:solidFill>
                  <a:srgbClr val="174A35"/>
                </a:solidFill>
                <a:latin typeface="Consolas"/>
              </a:rPr>
              <a:t>/app/companies</a:t>
            </a:r>
            <a:r>
              <a:rPr sz="1400">
                <a:solidFill>
                  <a:srgbClr val="2C3E50"/>
                </a:solidFill>
              </a:rPr>
              <a:t>: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C3E50"/>
                </a:solidFill>
              </a:rPr>
              <a:t>• </a:t>
            </a:r>
            <a:r>
              <a:rPr b="1" sz="1400">
                <a:solidFill>
                  <a:srgbClr val="174A35"/>
                </a:solidFill>
              </a:rPr>
              <a:t>Fuzzy name search</a:t>
            </a:r>
            <a:r>
              <a:rPr sz="1400">
                <a:solidFill>
                  <a:srgbClr val="2C3E50"/>
                </a:solidFill>
              </a:rPr>
              <a:t> — partial matching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C3E50"/>
                </a:solidFill>
              </a:rPr>
              <a:t>• </a:t>
            </a:r>
            <a:r>
              <a:rPr b="1" sz="1400">
                <a:solidFill>
                  <a:srgbClr val="174A35"/>
                </a:solidFill>
              </a:rPr>
              <a:t>Sector filter</a:t>
            </a:r>
            <a:r>
              <a:rPr sz="1400">
                <a:solidFill>
                  <a:srgbClr val="2C3E50"/>
                </a:solidFill>
              </a:rPr>
              <a:t> — dropdown with all sectors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C3E50"/>
                </a:solidFill>
              </a:rPr>
              <a:t>• Results show revenue, EBITDA, employees, deal stage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C3E50"/>
                </a:solidFill>
              </a:rPr>
              <a:t>• Click any company to jump to its deal workspace</a:t>
            </a:r>
          </a:p>
        </p:txBody>
      </p:sp>
      <p:pic>
        <p:nvPicPr>
          <p:cNvPr id="5" name="Picture 4" descr="14-compan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280160"/>
            <a:ext cx="5212080" cy="335062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6473952"/>
            <a:ext cx="11460175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B7278"/>
                </a:solidFill>
              </a:rPr>
              <a:t>PEHero — Your Private Equity AI Agent Squad · pehero.chat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5D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0" tIns="128016"/>
          <a:lstStyle/>
          <a:p>
            <a:pPr algn="ctr"/>
            <a:r>
              <a:rPr sz="2600" b="1">
                <a:solidFill>
                  <a:srgbClr val="FFFFFF"/>
                </a:solidFill>
              </a:rPr>
              <a:t>Investors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877824"/>
            <a:ext cx="109728" cy="36576"/>
          </a:xfrm>
          <a:prstGeom prst="rect">
            <a:avLst/>
          </a:prstGeom>
          <a:solidFill>
            <a:srgbClr val="C89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11185855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2C3E50"/>
                </a:solidFill>
              </a:rPr>
              <a:t>Investor prospecting at </a:t>
            </a:r>
            <a:r>
              <a:rPr sz="1400">
                <a:solidFill>
                  <a:srgbClr val="174A35"/>
                </a:solidFill>
                <a:latin typeface="Consolas"/>
              </a:rPr>
              <a:t>/app/investors</a:t>
            </a:r>
            <a:r>
              <a:rPr sz="1400">
                <a:solidFill>
                  <a:srgbClr val="2C3E50"/>
                </a:solidFill>
              </a:rPr>
              <a:t>: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C3E50"/>
                </a:solidFill>
              </a:rPr>
              <a:t>• </a:t>
            </a:r>
            <a:r>
              <a:rPr b="1" sz="1400">
                <a:solidFill>
                  <a:srgbClr val="174A35"/>
                </a:solidFill>
              </a:rPr>
              <a:t>2,500+ persons</a:t>
            </a:r>
            <a:r>
              <a:rPr sz="1400">
                <a:solidFill>
                  <a:srgbClr val="2C3E50"/>
                </a:solidFill>
              </a:rPr>
              <a:t> across Estonia, Lithuania, and Latvia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C3E50"/>
                </a:solidFill>
              </a:rPr>
              <a:t>• Search by name, filter by country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C3E50"/>
                </a:solidFill>
              </a:rPr>
              <a:t>• Each person card shows </a:t>
            </a:r>
            <a:r>
              <a:rPr b="1" sz="1400">
                <a:solidFill>
                  <a:srgbClr val="174A35"/>
                </a:solidFill>
              </a:rPr>
              <a:t>wealth rank</a:t>
            </a:r>
            <a:r>
              <a:rPr sz="1400">
                <a:solidFill>
                  <a:srgbClr val="2C3E50"/>
                </a:solidFill>
              </a:rPr>
              <a:t>, company links, ownership stakes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C3E50"/>
                </a:solidFill>
              </a:rPr>
              <a:t>• Click any person for detail view with full company portfolio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C3E50"/>
                </a:solidFill>
              </a:rPr>
              <a:t>• Data from Baltic business registries and wealth rankings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73952"/>
            <a:ext cx="11460175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B7278"/>
                </a:solidFill>
              </a:rPr>
              <a:t>PEHero — Your Private Equity AI Agent Squad · pehero.chat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5D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0" tIns="128016"/>
          <a:lstStyle/>
          <a:p>
            <a:pPr algn="ctr"/>
            <a:r>
              <a:rPr sz="2600" b="1">
                <a:solidFill>
                  <a:srgbClr val="FFFFFF"/>
                </a:solidFill>
              </a:rPr>
              <a:t>Portfolio — Dashboard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877824"/>
            <a:ext cx="109728" cy="36576"/>
          </a:xfrm>
          <a:prstGeom prst="rect">
            <a:avLst/>
          </a:prstGeom>
          <a:solidFill>
            <a:srgbClr val="C89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11185855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2C3E50"/>
                </a:solidFill>
              </a:rPr>
              <a:t>The Portfolio section (</a:t>
            </a:r>
            <a:r>
              <a:rPr sz="1400">
                <a:solidFill>
                  <a:srgbClr val="174A35"/>
                </a:solidFill>
                <a:latin typeface="Consolas"/>
              </a:rPr>
              <a:t>/app/portfolio</a:t>
            </a:r>
            <a:r>
              <a:rPr sz="1400">
                <a:solidFill>
                  <a:srgbClr val="2C3E50"/>
                </a:solidFill>
              </a:rPr>
              <a:t>) has a </a:t>
            </a:r>
            <a:r>
              <a:rPr b="1" sz="1400">
                <a:solidFill>
                  <a:srgbClr val="174A35"/>
                </a:solidFill>
              </a:rPr>
              <a:t>3-tab submenu</a:t>
            </a:r>
            <a:r>
              <a:rPr sz="1400">
                <a:solidFill>
                  <a:srgbClr val="2C3E50"/>
                </a:solidFill>
              </a:rPr>
              <a:t>: Dashboard, Analytics, KPIs.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C3E50"/>
                </a:solidFill>
              </a:rPr>
              <a:t>Dashboard tab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C3E50"/>
                </a:solidFill>
              </a:rPr>
              <a:t>• </a:t>
            </a:r>
            <a:r>
              <a:rPr b="1" sz="1400">
                <a:solidFill>
                  <a:srgbClr val="174A35"/>
                </a:solidFill>
              </a:rPr>
              <a:t>Value Bridge</a:t>
            </a:r>
            <a:r>
              <a:rPr sz="1400">
                <a:solidFill>
                  <a:srgbClr val="2C3E50"/>
                </a:solidFill>
              </a:rPr>
              <a:t> — waterfall chart showing NAV progression (entry → growth → margin → multiple → exit)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C3E50"/>
                </a:solidFill>
              </a:rPr>
              <a:t>• </a:t>
            </a:r>
            <a:r>
              <a:rPr b="1" sz="1400">
                <a:solidFill>
                  <a:srgbClr val="174A35"/>
                </a:solidFill>
              </a:rPr>
              <a:t>Portfolio Health</a:t>
            </a:r>
            <a:r>
              <a:rPr sz="1400">
                <a:solidFill>
                  <a:srgbClr val="2C3E50"/>
                </a:solidFill>
              </a:rPr>
              <a:t> — donut chart of margin bands (healthy &gt;20%, watch 10-20%, risk &lt;10%)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C3E50"/>
                </a:solidFill>
              </a:rPr>
              <a:t>• </a:t>
            </a:r>
            <a:r>
              <a:rPr b="1" sz="1400">
                <a:solidFill>
                  <a:srgbClr val="174A35"/>
                </a:solidFill>
              </a:rPr>
              <a:t>KPI cards</a:t>
            </a:r>
            <a:r>
              <a:rPr sz="1400">
                <a:solidFill>
                  <a:srgbClr val="2C3E50"/>
                </a:solidFill>
              </a:rPr>
              <a:t> — total companies, total NAV, average MOIC, average hold period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C3E50"/>
                </a:solidFill>
              </a:rPr>
              <a:t>• </a:t>
            </a:r>
            <a:r>
              <a:rPr b="1" sz="1400">
                <a:solidFill>
                  <a:srgbClr val="174A35"/>
                </a:solidFill>
              </a:rPr>
              <a:t>Top holdings</a:t>
            </a:r>
            <a:r>
              <a:rPr sz="1400">
                <a:solidFill>
                  <a:srgbClr val="2C3E50"/>
                </a:solidFill>
              </a:rPr>
              <a:t> — ranked by NAV with inline sparkline bars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73952"/>
            <a:ext cx="11460175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B7278"/>
                </a:solidFill>
              </a:rPr>
              <a:t>PEHero — Your Private Equity AI Agent Squad · pehero.chat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5D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0" tIns="128016"/>
          <a:lstStyle/>
          <a:p>
            <a:pPr algn="ctr"/>
            <a:r>
              <a:rPr sz="2600" b="1">
                <a:solidFill>
                  <a:srgbClr val="FFFFFF"/>
                </a:solidFill>
              </a:rPr>
              <a:t>Portfolio — Analytics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877824"/>
            <a:ext cx="109728" cy="36576"/>
          </a:xfrm>
          <a:prstGeom prst="rect">
            <a:avLst/>
          </a:prstGeom>
          <a:solidFill>
            <a:srgbClr val="C89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11185855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2C3E50"/>
                </a:solidFill>
              </a:rPr>
              <a:t>Analytics tab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C3E50"/>
                </a:solidFill>
              </a:rPr>
              <a:t>• </a:t>
            </a:r>
            <a:r>
              <a:rPr b="1" sz="1400">
                <a:solidFill>
                  <a:srgbClr val="174A35"/>
                </a:solidFill>
              </a:rPr>
              <a:t>Bubble chart</a:t>
            </a:r>
            <a:r>
              <a:rPr sz="1400">
                <a:solidFill>
                  <a:srgbClr val="2C3E50"/>
                </a:solidFill>
              </a:rPr>
              <a:t> — companies plotted by revenue (x) vs EBITDA margin (y), sized by EV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C3E50"/>
                </a:solidFill>
              </a:rPr>
              <a:t>• </a:t>
            </a:r>
            <a:r>
              <a:rPr b="1" sz="1400">
                <a:solidFill>
                  <a:srgbClr val="174A35"/>
                </a:solidFill>
              </a:rPr>
              <a:t>Heatmap</a:t>
            </a:r>
            <a:r>
              <a:rPr sz="1400">
                <a:solidFill>
                  <a:srgbClr val="2C3E50"/>
                </a:solidFill>
              </a:rPr>
              <a:t> — sector × deal-stage matrix showing company counts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C3E50"/>
                </a:solidFill>
              </a:rPr>
              <a:t>• </a:t>
            </a:r>
            <a:r>
              <a:rPr b="1" sz="1400">
                <a:solidFill>
                  <a:srgbClr val="174A35"/>
                </a:solidFill>
              </a:rPr>
              <a:t>Sector allocation</a:t>
            </a:r>
            <a:r>
              <a:rPr sz="1400">
                <a:solidFill>
                  <a:srgbClr val="2C3E50"/>
                </a:solidFill>
              </a:rPr>
              <a:t> — table with company count, total revenue, avg margin per sector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C3E50"/>
                </a:solidFill>
              </a:rPr>
              <a:t>• </a:t>
            </a:r>
            <a:r>
              <a:rPr b="1" sz="1400">
                <a:solidFill>
                  <a:srgbClr val="174A35"/>
                </a:solidFill>
              </a:rPr>
              <a:t>Full holdings table</a:t>
            </a:r>
            <a:r>
              <a:rPr sz="1400">
                <a:solidFill>
                  <a:srgbClr val="2C3E50"/>
                </a:solidFill>
              </a:rPr>
              <a:t> — sortable list with all portfolio companies and key metrics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73952"/>
            <a:ext cx="11460175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B7278"/>
                </a:solidFill>
              </a:rPr>
              <a:t>PEHero — Your Private Equity AI Agent Squad · pehero.chat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5D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0" tIns="128016"/>
          <a:lstStyle/>
          <a:p>
            <a:pPr algn="ctr"/>
            <a:r>
              <a:rPr sz="2600" b="1">
                <a:solidFill>
                  <a:srgbClr val="FFFFFF"/>
                </a:solidFill>
              </a:rPr>
              <a:t>Portfolio — KPIs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877824"/>
            <a:ext cx="109728" cy="36576"/>
          </a:xfrm>
          <a:prstGeom prst="rect">
            <a:avLst/>
          </a:prstGeom>
          <a:solidFill>
            <a:srgbClr val="C89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11185855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2C3E50"/>
                </a:solidFill>
              </a:rPr>
              <a:t>KPIs tab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C3E50"/>
                </a:solidFill>
              </a:rPr>
              <a:t>• </a:t>
            </a:r>
            <a:r>
              <a:rPr b="1" sz="1400">
                <a:solidFill>
                  <a:srgbClr val="174A35"/>
                </a:solidFill>
              </a:rPr>
              <a:t>Revenue &amp; EBITDA trends</a:t>
            </a:r>
            <a:r>
              <a:rPr sz="1400">
                <a:solidFill>
                  <a:srgbClr val="2C3E50"/>
                </a:solidFill>
              </a:rPr>
              <a:t> — annual aggregated lines from monthly financial data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C3E50"/>
                </a:solidFill>
              </a:rPr>
              <a:t>• </a:t>
            </a:r>
            <a:r>
              <a:rPr b="1" sz="1400">
                <a:solidFill>
                  <a:srgbClr val="174A35"/>
                </a:solidFill>
              </a:rPr>
              <a:t>Margin trends</a:t>
            </a:r>
            <a:r>
              <a:rPr sz="1400">
                <a:solidFill>
                  <a:srgbClr val="2C3E50"/>
                </a:solidFill>
              </a:rPr>
              <a:t> — EBITDA margin over time vs 20% target line (dashed)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C3E50"/>
                </a:solidFill>
              </a:rPr>
              <a:t>• </a:t>
            </a:r>
            <a:r>
              <a:rPr b="1" sz="1400">
                <a:solidFill>
                  <a:srgbClr val="174A35"/>
                </a:solidFill>
              </a:rPr>
              <a:t>Growth trends</a:t>
            </a:r>
            <a:r>
              <a:rPr sz="1400">
                <a:solidFill>
                  <a:srgbClr val="2C3E50"/>
                </a:solidFill>
              </a:rPr>
              <a:t> — year-over-year revenue growth as bar chart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C3E50"/>
                </a:solidFill>
              </a:rPr>
              <a:t>All charts are interactive (Plotly) — hover for values, zoom, download as PNG.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73952"/>
            <a:ext cx="11460175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B7278"/>
                </a:solidFill>
              </a:rPr>
              <a:t>PEHero — Your Private Equity AI Agent Squad · pehero.chat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5D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0" tIns="128016"/>
          <a:lstStyle/>
          <a:p>
            <a:pPr algn="ctr"/>
            <a:r>
              <a:rPr sz="2600" b="1">
                <a:solidFill>
                  <a:srgbClr val="FFFFFF"/>
                </a:solidFill>
              </a:rPr>
              <a:t>PE Valuation Simulator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877824"/>
            <a:ext cx="109728" cy="36576"/>
          </a:xfrm>
          <a:prstGeom prst="rect">
            <a:avLst/>
          </a:prstGeom>
          <a:solidFill>
            <a:srgbClr val="C89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57607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2C3E50"/>
                </a:solidFill>
              </a:rPr>
              <a:t>Interactive company valuation with four methods at </a:t>
            </a:r>
            <a:r>
              <a:rPr sz="1400">
                <a:solidFill>
                  <a:srgbClr val="174A35"/>
                </a:solidFill>
                <a:latin typeface="Consolas"/>
              </a:rPr>
              <a:t>/app/valuation</a:t>
            </a:r>
            <a:r>
              <a:rPr sz="1400">
                <a:solidFill>
                  <a:srgbClr val="2C3E50"/>
                </a:solidFill>
              </a:rPr>
              <a:t>: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C3E50"/>
                </a:solidFill>
              </a:rPr>
              <a:t>• </a:t>
            </a:r>
            <a:r>
              <a:rPr b="1" sz="1400">
                <a:solidFill>
                  <a:srgbClr val="174A35"/>
                </a:solidFill>
              </a:rPr>
              <a:t>Select a company</a:t>
            </a:r>
            <a:r>
              <a:rPr sz="1400">
                <a:solidFill>
                  <a:srgbClr val="2C3E50"/>
                </a:solidFill>
              </a:rPr>
              <a:t> from the dropdown (type to search)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C3E50"/>
                </a:solidFill>
              </a:rPr>
              <a:t>• The simulator loads financials and auto-selects an industry benchmark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C3E50"/>
                </a:solidFill>
              </a:rPr>
              <a:t>Four valuation methods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C3E50"/>
                </a:solidFill>
              </a:rPr>
              <a:t>• </a:t>
            </a:r>
            <a:r>
              <a:rPr b="1" sz="1400">
                <a:solidFill>
                  <a:srgbClr val="174A35"/>
                </a:solidFill>
              </a:rPr>
              <a:t>EV/Revenue</a:t>
            </a:r>
            <a:r>
              <a:rPr sz="1400">
                <a:solidFill>
                  <a:srgbClr val="2C3E50"/>
                </a:solidFill>
              </a:rPr>
              <a:t> — revenue × industry sales multiple (96 Damodaran industries)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C3E50"/>
                </a:solidFill>
              </a:rPr>
              <a:t>• </a:t>
            </a:r>
            <a:r>
              <a:rPr b="1" sz="1400">
                <a:solidFill>
                  <a:srgbClr val="174A35"/>
                </a:solidFill>
              </a:rPr>
              <a:t>EV/EBITDA</a:t>
            </a:r>
            <a:r>
              <a:rPr sz="1400">
                <a:solidFill>
                  <a:srgbClr val="2C3E50"/>
                </a:solidFill>
              </a:rPr>
              <a:t> — EBITDA × industry EV/EBITDA multiple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C3E50"/>
                </a:solidFill>
              </a:rPr>
              <a:t>• </a:t>
            </a:r>
            <a:r>
              <a:rPr b="1" sz="1400">
                <a:solidFill>
                  <a:srgbClr val="174A35"/>
                </a:solidFill>
              </a:rPr>
              <a:t>EV/EBIT</a:t>
            </a:r>
            <a:r>
              <a:rPr sz="1400">
                <a:solidFill>
                  <a:srgbClr val="2C3E50"/>
                </a:solidFill>
              </a:rPr>
              <a:t> — EBIT × industry EV/EBIT multiple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C3E50"/>
                </a:solidFill>
              </a:rPr>
              <a:t>• </a:t>
            </a:r>
            <a:r>
              <a:rPr b="1" sz="1400">
                <a:solidFill>
                  <a:srgbClr val="174A35"/>
                </a:solidFill>
              </a:rPr>
              <a:t>DCF</a:t>
            </a:r>
            <a:r>
              <a:rPr sz="1400">
                <a:solidFill>
                  <a:srgbClr val="2C3E50"/>
                </a:solidFill>
              </a:rPr>
              <a:t> — configurable revenue growth, WACC, terminal growth, projection years, CapEx, tax rate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C3E50"/>
                </a:solidFill>
              </a:rPr>
              <a:t>Each method has </a:t>
            </a:r>
            <a:r>
              <a:rPr b="1" sz="1400">
                <a:solidFill>
                  <a:srgbClr val="174A35"/>
                </a:solidFill>
              </a:rPr>
              <a:t>interactive sliders</a:t>
            </a:r>
            <a:r>
              <a:rPr sz="1400">
                <a:solidFill>
                  <a:srgbClr val="2C3E50"/>
                </a:solidFill>
              </a:rPr>
              <a:t> — adjust any parameter, all valuations update instantly.</a:t>
            </a:r>
          </a:p>
        </p:txBody>
      </p:sp>
      <p:pic>
        <p:nvPicPr>
          <p:cNvPr id="5" name="Picture 4" descr="21-valuation-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280160"/>
            <a:ext cx="5212080" cy="32575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6473952"/>
            <a:ext cx="11460175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B7278"/>
                </a:solidFill>
              </a:rPr>
              <a:t>PEHero — Your Private Equity AI Agent Squad · pehero.chat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5D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0" tIns="128016"/>
          <a:lstStyle/>
          <a:p>
            <a:pPr algn="ctr"/>
            <a:r>
              <a:rPr sz="2600" b="1">
                <a:solidFill>
                  <a:srgbClr val="FFFFFF"/>
                </a:solidFill>
              </a:rPr>
              <a:t>Valuation — WACC &amp; Equity Bridge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877824"/>
            <a:ext cx="109728" cy="36576"/>
          </a:xfrm>
          <a:prstGeom prst="rect">
            <a:avLst/>
          </a:prstGeom>
          <a:solidFill>
            <a:srgbClr val="C89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57607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2C3E50"/>
                </a:solidFill>
              </a:rPr>
              <a:t>WACC Calculator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C3E50"/>
                </a:solidFill>
              </a:rPr>
              <a:t>Build the discount rate from first principles: risk-free rate, levered beta, market risk premium, country risk premium, size premium, D/E ratio, cost of debt, tax rate. Click </a:t>
            </a:r>
            <a:r>
              <a:rPr b="1" sz="1400">
                <a:solidFill>
                  <a:srgbClr val="174A35"/>
                </a:solidFill>
              </a:rPr>
              <a:t>Apply to DCF</a:t>
            </a:r>
            <a:r>
              <a:rPr sz="1400">
                <a:solidFill>
                  <a:srgbClr val="2C3E50"/>
                </a:solidFill>
              </a:rPr>
              <a:t>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C3E50"/>
                </a:solidFill>
              </a:rPr>
              <a:t>Equity Bridge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C3E50"/>
                </a:solidFill>
              </a:rPr>
              <a:t>Derive equity value: Average EV + Cash − Debt − Minority Interest.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C3E50"/>
                </a:solidFill>
              </a:rPr>
              <a:t>Comparison chart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C3E50"/>
                </a:solidFill>
              </a:rPr>
              <a:t>Interactive Plotly bar chart showing all four valuations side by side with dashed average line.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C3E50"/>
                </a:solidFill>
              </a:rPr>
              <a:t>XLS Export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C3E50"/>
                </a:solidFill>
              </a:rPr>
              <a:t>Multi-sheet Excel workbook: Valuation Summary, Multiples, DCF projections, WACC components.</a:t>
            </a:r>
          </a:p>
        </p:txBody>
      </p:sp>
      <p:pic>
        <p:nvPicPr>
          <p:cNvPr id="5" name="Picture 4" descr="22-valuation-wacc-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280160"/>
            <a:ext cx="5212080" cy="32575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6473952"/>
            <a:ext cx="11460175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B7278"/>
                </a:solidFill>
              </a:rPr>
              <a:t>PEHero — Your Private Equity AI Agent Squad · pehero.chat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5D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0" tIns="128016"/>
          <a:lstStyle/>
          <a:p>
            <a:pPr algn="ctr"/>
            <a:r>
              <a:rPr sz="2600" b="1">
                <a:solidFill>
                  <a:srgbClr val="FFFFFF"/>
                </a:solidFill>
              </a:rPr>
              <a:t>Data Room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877824"/>
            <a:ext cx="109728" cy="36576"/>
          </a:xfrm>
          <a:prstGeom prst="rect">
            <a:avLst/>
          </a:prstGeom>
          <a:solidFill>
            <a:srgbClr val="C89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57607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2C3E50"/>
                </a:solidFill>
              </a:rPr>
              <a:t>Upload and manage deal documents at </a:t>
            </a:r>
            <a:r>
              <a:rPr sz="1400">
                <a:solidFill>
                  <a:srgbClr val="174A35"/>
                </a:solidFill>
                <a:latin typeface="Consolas"/>
              </a:rPr>
              <a:t>/app/dataroom</a:t>
            </a:r>
            <a:r>
              <a:rPr sz="1400">
                <a:solidFill>
                  <a:srgbClr val="2C3E50"/>
                </a:solidFill>
              </a:rPr>
              <a:t>: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C3E50"/>
                </a:solidFill>
              </a:rPr>
              <a:t>• Upload PDFs, Word docs, spreadsheets, presentations, images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C3E50"/>
                </a:solidFill>
              </a:rPr>
              <a:t>• </a:t>
            </a:r>
            <a:r>
              <a:rPr b="1" sz="1400">
                <a:solidFill>
                  <a:srgbClr val="174A35"/>
                </a:solidFill>
              </a:rPr>
              <a:t>Virtual folder tree</a:t>
            </a:r>
            <a:r>
              <a:rPr sz="1400">
                <a:solidFill>
                  <a:srgbClr val="2C3E50"/>
                </a:solidFill>
              </a:rPr>
              <a:t> grouped by company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C3E50"/>
                </a:solidFill>
              </a:rPr>
              <a:t>• Download or delete any file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C3E50"/>
                </a:solidFill>
              </a:rPr>
              <a:t>• Documents </a:t>
            </a:r>
            <a:r>
              <a:rPr b="1" sz="1400">
                <a:solidFill>
                  <a:srgbClr val="174A35"/>
                </a:solidFill>
              </a:rPr>
              <a:t>automatically indexed into RAG</a:t>
            </a:r>
            <a:r>
              <a:rPr sz="1400">
                <a:solidFill>
                  <a:srgbClr val="2C3E50"/>
                </a:solidFill>
              </a:rPr>
              <a:t> — agents can search and answer questions about your uploads</a:t>
            </a:r>
          </a:p>
        </p:txBody>
      </p:sp>
      <p:pic>
        <p:nvPicPr>
          <p:cNvPr id="5" name="Picture 4" descr="24-data-roo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280160"/>
            <a:ext cx="5212080" cy="32575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6473952"/>
            <a:ext cx="11460175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B7278"/>
                </a:solidFill>
              </a:rPr>
              <a:t>PEHero — Your Private Equity AI Agent Squad · pehero.chat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5D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0" tIns="128016"/>
          <a:lstStyle/>
          <a:p>
            <a:pPr algn="ctr"/>
            <a:r>
              <a:rPr sz="2600" b="1">
                <a:solidFill>
                  <a:srgbClr val="FFFFFF"/>
                </a:solidFill>
              </a:rPr>
              <a:t>Analytics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877824"/>
            <a:ext cx="109728" cy="36576"/>
          </a:xfrm>
          <a:prstGeom prst="rect">
            <a:avLst/>
          </a:prstGeom>
          <a:solidFill>
            <a:srgbClr val="C89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57607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2C3E50"/>
                </a:solidFill>
              </a:rPr>
              <a:t>Ask questions in plain English, get charts: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C3E50"/>
                </a:solidFill>
              </a:rPr>
              <a:t>• </a:t>
            </a:r>
            <a:r>
              <a:rPr i="1" sz="1400">
                <a:solidFill>
                  <a:srgbClr val="2C3E50"/>
                </a:solidFill>
              </a:rPr>
              <a:t>"Top 10 companies by revenue"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C3E50"/>
                </a:solidFill>
              </a:rPr>
              <a:t>• </a:t>
            </a:r>
            <a:r>
              <a:rPr i="1" sz="1400">
                <a:solidFill>
                  <a:srgbClr val="2C3E50"/>
                </a:solidFill>
              </a:rPr>
              <a:t>"Average EBITDA margin by sector"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C3E50"/>
                </a:solidFill>
              </a:rPr>
              <a:t>• </a:t>
            </a:r>
            <a:r>
              <a:rPr i="1" sz="1400">
                <a:solidFill>
                  <a:srgbClr val="2C3E50"/>
                </a:solidFill>
              </a:rPr>
              <a:t>"Company count by deal stage"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C3E50"/>
                </a:solidFill>
              </a:rPr>
              <a:t>• </a:t>
            </a:r>
            <a:r>
              <a:rPr i="1" sz="1400">
                <a:solidFill>
                  <a:srgbClr val="2C3E50"/>
                </a:solidFill>
              </a:rPr>
              <a:t>"Revenue distribution across Baltic countries"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C3E50"/>
                </a:solidFill>
              </a:rPr>
              <a:t>The system translates your question to </a:t>
            </a:r>
            <a:r>
              <a:rPr b="1" sz="1400">
                <a:solidFill>
                  <a:srgbClr val="174A35"/>
                </a:solidFill>
              </a:rPr>
              <a:t>read-only SQL</a:t>
            </a:r>
            <a:r>
              <a:rPr sz="1400">
                <a:solidFill>
                  <a:srgbClr val="2C3E50"/>
                </a:solidFill>
              </a:rPr>
              <a:t>, runs it against the database, and auto-picks the chart type. The underlying SQL is shown for auditability.</a:t>
            </a:r>
          </a:p>
        </p:txBody>
      </p:sp>
      <p:pic>
        <p:nvPicPr>
          <p:cNvPr id="5" name="Picture 4" descr="15-analytics-stag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280160"/>
            <a:ext cx="5212080" cy="335062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6473952"/>
            <a:ext cx="11460175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B7278"/>
                </a:solidFill>
              </a:rPr>
              <a:t>PEHero — Your Private Equity AI Agent Squad · pehero.chat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5D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0" tIns="128016"/>
          <a:lstStyle/>
          <a:p>
            <a:pPr algn="ctr"/>
            <a:r>
              <a:rPr sz="2600" b="1">
                <a:solidFill>
                  <a:srgbClr val="FFFFFF"/>
                </a:solidFill>
              </a:rPr>
              <a:t>Instructions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877824"/>
            <a:ext cx="109728" cy="36576"/>
          </a:xfrm>
          <a:prstGeom prst="rect">
            <a:avLst/>
          </a:prstGeom>
          <a:solidFill>
            <a:srgbClr val="C89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57607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2C3E50"/>
                </a:solidFill>
              </a:rPr>
              <a:t>Edit any agent's system prompt live at </a:t>
            </a:r>
            <a:r>
              <a:rPr sz="1400">
                <a:solidFill>
                  <a:srgbClr val="174A35"/>
                </a:solidFill>
                <a:latin typeface="Consolas"/>
              </a:rPr>
              <a:t>/app/instructions</a:t>
            </a:r>
            <a:r>
              <a:rPr sz="1400">
                <a:solidFill>
                  <a:srgbClr val="2C3E50"/>
                </a:solidFill>
              </a:rPr>
              <a:t>: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C3E50"/>
                </a:solidFill>
              </a:rPr>
              <a:t>• Changes take effect on the </a:t>
            </a:r>
            <a:r>
              <a:rPr b="1" sz="1400">
                <a:solidFill>
                  <a:srgbClr val="174A35"/>
                </a:solidFill>
              </a:rPr>
              <a:t>very next conversation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C3E50"/>
                </a:solidFill>
              </a:rPr>
              <a:t>• No restarts or deploys needed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C3E50"/>
                </a:solidFill>
              </a:rPr>
              <a:t>• Encode your firm's house style, memo format, or diligence approach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C3E50"/>
                </a:solidFill>
              </a:rPr>
              <a:t>• Shared across your team — all users see the same prompts</a:t>
            </a:r>
          </a:p>
        </p:txBody>
      </p:sp>
      <p:pic>
        <p:nvPicPr>
          <p:cNvPr id="5" name="Picture 4" descr="18-instructions-ed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280160"/>
            <a:ext cx="5212080" cy="335062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6473952"/>
            <a:ext cx="11460175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B7278"/>
                </a:solidFill>
              </a:rPr>
              <a:t>PEHero — Your Private Equity AI Agent Squad · pehero.chat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5D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0" tIns="128016"/>
          <a:lstStyle/>
          <a:p>
            <a:pPr algn="ctr"/>
            <a:r>
              <a:rPr sz="2600" b="1">
                <a:solidFill>
                  <a:srgbClr val="FFFFFF"/>
                </a:solidFill>
              </a:rPr>
              <a:t>Copilot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877824"/>
            <a:ext cx="109728" cy="36576"/>
          </a:xfrm>
          <a:prstGeom prst="rect">
            <a:avLst/>
          </a:prstGeom>
          <a:solidFill>
            <a:srgbClr val="C89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57607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2C3E50"/>
                </a:solidFill>
              </a:rPr>
              <a:t>Every workspace page includes a </a:t>
            </a:r>
            <a:r>
              <a:rPr b="1" sz="1400">
                <a:solidFill>
                  <a:srgbClr val="174A35"/>
                </a:solidFill>
              </a:rPr>
              <a:t>Copilot</a:t>
            </a:r>
            <a:r>
              <a:rPr sz="1400">
                <a:solidFill>
                  <a:srgbClr val="2C3E50"/>
                </a:solidFill>
              </a:rPr>
              <a:t> AI assistant in the right pane.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C3E50"/>
                </a:solidFill>
              </a:rPr>
              <a:t>Context-aware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C3E50"/>
                </a:solidFill>
              </a:rPr>
              <a:t>The Copilot automatically receives page context: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C3E50"/>
                </a:solidFill>
              </a:rPr>
              <a:t>• </a:t>
            </a:r>
            <a:r>
              <a:rPr b="1" sz="1400">
                <a:solidFill>
                  <a:srgbClr val="174A35"/>
                </a:solidFill>
              </a:rPr>
              <a:t>Pipeline</a:t>
            </a:r>
            <a:r>
              <a:rPr sz="1400">
                <a:solidFill>
                  <a:srgbClr val="2C3E50"/>
                </a:solidFill>
              </a:rPr>
              <a:t> — stage counts, filters, total companies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C3E50"/>
                </a:solidFill>
              </a:rPr>
              <a:t>• </a:t>
            </a:r>
            <a:r>
              <a:rPr b="1" sz="1400">
                <a:solidFill>
                  <a:srgbClr val="174A35"/>
                </a:solidFill>
              </a:rPr>
              <a:t>Valuation</a:t>
            </a:r>
            <a:r>
              <a:rPr sz="1400">
                <a:solidFill>
                  <a:srgbClr val="2C3E50"/>
                </a:solidFill>
              </a:rPr>
              <a:t> — loaded company financials, sector, employees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C3E50"/>
                </a:solidFill>
              </a:rPr>
              <a:t>• </a:t>
            </a:r>
            <a:r>
              <a:rPr b="1" sz="1400">
                <a:solidFill>
                  <a:srgbClr val="174A35"/>
                </a:solidFill>
              </a:rPr>
              <a:t>Analytics</a:t>
            </a:r>
            <a:r>
              <a:rPr sz="1400">
                <a:solidFill>
                  <a:srgbClr val="2C3E50"/>
                </a:solidFill>
              </a:rPr>
              <a:t> — schema capabilities, sample queries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C3E50"/>
                </a:solidFill>
              </a:rPr>
              <a:t>• </a:t>
            </a:r>
            <a:r>
              <a:rPr b="1" sz="1400">
                <a:solidFill>
                  <a:srgbClr val="174A35"/>
                </a:solidFill>
              </a:rPr>
              <a:t>Companies</a:t>
            </a:r>
            <a:r>
              <a:rPr sz="1400">
                <a:solidFill>
                  <a:srgbClr val="2C3E50"/>
                </a:solidFill>
              </a:rPr>
              <a:t> — current search, sector filter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C3E50"/>
                </a:solidFill>
              </a:rPr>
              <a:t>• </a:t>
            </a:r>
            <a:r>
              <a:rPr b="1" sz="1400">
                <a:solidFill>
                  <a:srgbClr val="174A35"/>
                </a:solidFill>
              </a:rPr>
              <a:t>Portfolio</a:t>
            </a:r>
            <a:r>
              <a:rPr sz="1400">
                <a:solidFill>
                  <a:srgbClr val="2C3E50"/>
                </a:solidFill>
              </a:rPr>
              <a:t> — KPI summaries, holdings data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C3E50"/>
                </a:solidFill>
              </a:rPr>
              <a:t>Each page has its own copilot session — navigate away and come back, your conversation is preserved.</a:t>
            </a:r>
          </a:p>
        </p:txBody>
      </p:sp>
      <p:pic>
        <p:nvPicPr>
          <p:cNvPr id="5" name="Picture 4" descr="25-copilot-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280160"/>
            <a:ext cx="5212080" cy="32575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6473952"/>
            <a:ext cx="11460175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B7278"/>
                </a:solidFill>
              </a:rPr>
              <a:t>PEHero — Your Private Equity AI Agent Squad · pehero.chat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5D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0" tIns="128016"/>
          <a:lstStyle/>
          <a:p>
            <a:pPr algn="ctr"/>
            <a:r>
              <a:rPr sz="2600" b="1">
                <a:solidFill>
                  <a:srgbClr val="FFFFFF"/>
                </a:solidFill>
              </a:rPr>
              <a:t>Training — PE Hero Game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877824"/>
            <a:ext cx="109728" cy="36576"/>
          </a:xfrm>
          <a:prstGeom prst="rect">
            <a:avLst/>
          </a:prstGeom>
          <a:solidFill>
            <a:srgbClr val="C89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11185855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2C3E50"/>
                </a:solidFill>
              </a:rPr>
              <a:t>The PE Hero RPG game at </a:t>
            </a:r>
            <a:r>
              <a:rPr sz="1400">
                <a:solidFill>
                  <a:srgbClr val="174A35"/>
                </a:solidFill>
                <a:latin typeface="Consolas"/>
              </a:rPr>
              <a:t>/app/training</a:t>
            </a:r>
            <a:r>
              <a:rPr sz="1400">
                <a:solidFill>
                  <a:srgbClr val="2C3E50"/>
                </a:solidFill>
              </a:rPr>
              <a:t> lets you practice PE deal-making: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C3E50"/>
                </a:solidFill>
              </a:rPr>
              <a:t>• </a:t>
            </a:r>
            <a:r>
              <a:rPr b="1" sz="1400">
                <a:solidFill>
                  <a:srgbClr val="174A35"/>
                </a:solidFill>
              </a:rPr>
              <a:t>Pick a character</a:t>
            </a:r>
            <a:r>
              <a:rPr sz="1400">
                <a:solidFill>
                  <a:srgbClr val="2C3E50"/>
                </a:solidFill>
              </a:rPr>
              <a:t> — each has different strengths (analytical, relationship, operations)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C3E50"/>
                </a:solidFill>
              </a:rPr>
              <a:t>• </a:t>
            </a:r>
            <a:r>
              <a:rPr b="1" sz="1400">
                <a:solidFill>
                  <a:srgbClr val="174A35"/>
                </a:solidFill>
              </a:rPr>
              <a:t>Navigate real deal scenarios</a:t>
            </a:r>
            <a:r>
              <a:rPr sz="1400">
                <a:solidFill>
                  <a:srgbClr val="2C3E50"/>
                </a:solidFill>
              </a:rPr>
              <a:t> using companies from the database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C3E50"/>
                </a:solidFill>
              </a:rPr>
              <a:t>• </a:t>
            </a:r>
            <a:r>
              <a:rPr b="1" sz="1400">
                <a:solidFill>
                  <a:srgbClr val="174A35"/>
                </a:solidFill>
              </a:rPr>
              <a:t>Make decisions</a:t>
            </a:r>
            <a:r>
              <a:rPr sz="1400">
                <a:solidFill>
                  <a:srgbClr val="2C3E50"/>
                </a:solidFill>
              </a:rPr>
              <a:t> — bid/pass, negotiate terms, manage portfolio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C3E50"/>
                </a:solidFill>
              </a:rPr>
              <a:t>• </a:t>
            </a:r>
            <a:r>
              <a:rPr b="1" sz="1400">
                <a:solidFill>
                  <a:srgbClr val="174A35"/>
                </a:solidFill>
              </a:rPr>
              <a:t>Earn scores</a:t>
            </a:r>
            <a:r>
              <a:rPr sz="1400">
                <a:solidFill>
                  <a:srgbClr val="2C3E50"/>
                </a:solidFill>
              </a:rPr>
              <a:t> — scored on deal quality, timing, and strategic fit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C3E50"/>
                </a:solidFill>
              </a:rPr>
              <a:t>An engaging way to learn PE workflows and practice decision-making.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73952"/>
            <a:ext cx="11460175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B7278"/>
                </a:solidFill>
              </a:rPr>
              <a:t>PEHero — Your Private Equity AI Agent Squad · pehero.chat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5D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0" tIns="128016"/>
          <a:lstStyle/>
          <a:p>
            <a:pPr algn="ctr"/>
            <a:r>
              <a:rPr sz="2600" b="1">
                <a:solidFill>
                  <a:srgbClr val="FFFFFF"/>
                </a:solidFill>
              </a:rPr>
              <a:t>Configuration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877824"/>
            <a:ext cx="109728" cy="36576"/>
          </a:xfrm>
          <a:prstGeom prst="rect">
            <a:avLst/>
          </a:prstGeom>
          <a:solidFill>
            <a:srgbClr val="C89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11185855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2C3E50"/>
                </a:solidFill>
              </a:rPr>
              <a:t>Currency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C3E50"/>
                </a:solidFill>
              </a:rPr>
              <a:t>Switch between </a:t>
            </a:r>
            <a:r>
              <a:rPr b="1" sz="1400">
                <a:solidFill>
                  <a:srgbClr val="174A35"/>
                </a:solidFill>
              </a:rPr>
              <a:t>EUR</a:t>
            </a:r>
            <a:r>
              <a:rPr sz="1400">
                <a:solidFill>
                  <a:srgbClr val="2C3E50"/>
                </a:solidFill>
              </a:rPr>
              <a:t> (default), </a:t>
            </a:r>
            <a:r>
              <a:rPr b="1" sz="1400">
                <a:solidFill>
                  <a:srgbClr val="174A35"/>
                </a:solidFill>
              </a:rPr>
              <a:t>GBP</a:t>
            </a:r>
            <a:r>
              <a:rPr sz="1400">
                <a:solidFill>
                  <a:srgbClr val="2C3E50"/>
                </a:solidFill>
              </a:rPr>
              <a:t>, and </a:t>
            </a:r>
            <a:r>
              <a:rPr b="1" sz="1400">
                <a:solidFill>
                  <a:srgbClr val="174A35"/>
                </a:solidFill>
              </a:rPr>
              <a:t>USD</a:t>
            </a:r>
            <a:r>
              <a:rPr sz="1400">
                <a:solidFill>
                  <a:srgbClr val="2C3E50"/>
                </a:solidFill>
              </a:rPr>
              <a:t>. All monetary figures follow your preference.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C3E50"/>
                </a:solidFill>
              </a:rPr>
              <a:t>Language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C3E50"/>
                </a:solidFill>
              </a:rPr>
              <a:t>11 languages: English, Estonian, Lithuanian, Latvian, Finnish, Swedish, Norwegian, Danish, French, German, Polish. Agents respond in your chosen language.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C3E50"/>
                </a:solidFill>
              </a:rPr>
              <a:t>Profile &amp; Deal Preferences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C3E50"/>
                </a:solidFill>
              </a:rPr>
              <a:t>At </a:t>
            </a:r>
            <a:r>
              <a:rPr sz="1400">
                <a:solidFill>
                  <a:srgbClr val="174A35"/>
                </a:solidFill>
                <a:latin typeface="Consolas"/>
              </a:rPr>
              <a:t>/app/profile</a:t>
            </a:r>
            <a:r>
              <a:rPr sz="1400">
                <a:solidFill>
                  <a:srgbClr val="2C3E50"/>
                </a:solidFill>
              </a:rPr>
              <a:t>, set your deal criteria: size range, revenue/EBITDA ranges, preferred sectors, deal types, and geographies. Enable/disable email notifications for new deals and weekly digests.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C3E50"/>
                </a:solidFill>
              </a:rPr>
              <a:t>Integrations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C3E50"/>
                </a:solidFill>
              </a:rPr>
              <a:t>At </a:t>
            </a:r>
            <a:r>
              <a:rPr sz="1400">
                <a:solidFill>
                  <a:srgbClr val="174A35"/>
                </a:solidFill>
                <a:latin typeface="Consolas"/>
              </a:rPr>
              <a:t>/app/integrations</a:t>
            </a:r>
            <a:r>
              <a:rPr sz="1400">
                <a:solidFill>
                  <a:srgbClr val="2C3E50"/>
                </a:solidFill>
              </a:rPr>
              <a:t>: Pipedrive CRM sync, Baltic registry connections (Estonia, Lithuania, Latvia), web search providers (Tavily, EXA).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73952"/>
            <a:ext cx="11460175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B7278"/>
                </a:solidFill>
              </a:rPr>
              <a:t>PEHero — Your Private Equity AI Agent Squad · pehero.chat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5D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0" tIns="128016"/>
          <a:lstStyle/>
          <a:p>
            <a:pPr algn="ctr"/>
            <a:r>
              <a:rPr sz="2600" b="1">
                <a:solidFill>
                  <a:srgbClr val="FFFFFF"/>
                </a:solidFill>
              </a:rPr>
              <a:t>Data Coverage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877824"/>
            <a:ext cx="109728" cy="36576"/>
          </a:xfrm>
          <a:prstGeom prst="rect">
            <a:avLst/>
          </a:prstGeom>
          <a:solidFill>
            <a:srgbClr val="C89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111858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2C3E50"/>
                </a:solidFill>
              </a:rPr>
              <a:t>Sectors: Healthcare, Software, Industrials, Financial Services, Business Services, Consumer.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C3E50"/>
                </a:solidFill>
              </a:rPr>
              <a:t>BYOD — bring your own data. Upload documents to the Data Room, and PEHero's agents can search and reason over your proprietary deal files.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783080"/>
          <a:ext cx="11185853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08322"/>
                <a:gridCol w="1789736"/>
                <a:gridCol w="6487795"/>
              </a:tblGrid>
              <a:tr h="9144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Country</a:t>
                      </a:r>
                    </a:p>
                  </a:txBody>
                  <a:tcPr marL="54864" marR="54864" marT="9144" marB="9144" anchor="ctr">
                    <a:solidFill>
                      <a:srgbClr val="1F5D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Companies</a:t>
                      </a:r>
                    </a:p>
                  </a:txBody>
                  <a:tcPr marL="54864" marR="54864" marT="9144" marB="9144" anchor="ctr">
                    <a:solidFill>
                      <a:srgbClr val="1F5D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Source</a:t>
                      </a:r>
                    </a:p>
                  </a:txBody>
                  <a:tcPr marL="54864" marR="54864" marT="9144" marB="9144" anchor="ctr">
                    <a:solidFill>
                      <a:srgbClr val="1F5D43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C3E50"/>
                          </a:solidFill>
                        </a:rPr>
                        <a:t>Estonia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C3E50"/>
                          </a:solidFill>
                        </a:rPr>
                        <a:t>363+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C3E50"/>
                          </a:solidFill>
                        </a:rPr>
                        <a:t>ariregister.rik.ee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C3E50"/>
                          </a:solidFill>
                        </a:rPr>
                        <a:t>Lithuania</a:t>
                      </a:r>
                    </a:p>
                  </a:txBody>
                  <a:tcPr marL="54864" marR="54864" marT="9144" marB="9144" anchor="ctr">
                    <a:solidFill>
                      <a:srgbClr val="F0F5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C3E50"/>
                          </a:solidFill>
                        </a:rPr>
                        <a:t>1,000+</a:t>
                      </a:r>
                    </a:p>
                  </a:txBody>
                  <a:tcPr marL="54864" marR="54864" marT="9144" marB="9144" anchor="ctr">
                    <a:solidFill>
                      <a:srgbClr val="F0F5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C3E50"/>
                          </a:solidFill>
                        </a:rPr>
                        <a:t>rekvizitai.vz.lt</a:t>
                      </a:r>
                    </a:p>
                  </a:txBody>
                  <a:tcPr marL="54864" marR="54864" marT="9144" marB="9144" anchor="ctr">
                    <a:solidFill>
                      <a:srgbClr val="F0F5F1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C3E50"/>
                          </a:solidFill>
                        </a:rPr>
                        <a:t>Latvia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C3E50"/>
                          </a:solidFill>
                        </a:rPr>
                        <a:t>500+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C3E50"/>
                          </a:solidFill>
                        </a:rPr>
                        <a:t>lursoft.lv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b="1" sz="1000">
                          <a:solidFill>
                            <a:srgbClr val="174A35"/>
                          </a:solidFill>
                        </a:rPr>
                        <a:t>Total</a:t>
                      </a:r>
                    </a:p>
                  </a:txBody>
                  <a:tcPr marL="54864" marR="54864" marT="9144" marB="9144" anchor="ctr">
                    <a:solidFill>
                      <a:srgbClr val="F0F5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000">
                          <a:solidFill>
                            <a:srgbClr val="174A35"/>
                          </a:solidFill>
                        </a:rPr>
                        <a:t>1,800+</a:t>
                      </a:r>
                    </a:p>
                  </a:txBody>
                  <a:tcPr marL="54864" marR="54864" marT="9144" marB="9144" anchor="ctr">
                    <a:solidFill>
                      <a:srgbClr val="F0F5F1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L="54864" marR="54864" marT="9144" marB="9144" anchor="ctr">
                    <a:solidFill>
                      <a:srgbClr val="F0F5F1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65760" y="6473952"/>
            <a:ext cx="11460175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B7278"/>
                </a:solidFill>
              </a:rPr>
              <a:t>PEHero — Your Private Equity AI Agent Squad · pehero.chat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5D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0" tIns="128016"/>
          <a:lstStyle/>
          <a:p>
            <a:pPr algn="ctr"/>
            <a:r>
              <a:rPr sz="2600" b="1">
                <a:solidFill>
                  <a:srgbClr val="FFFFFF"/>
                </a:solidFill>
              </a:rPr>
              <a:t>Getting Help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877824"/>
            <a:ext cx="109728" cy="36576"/>
          </a:xfrm>
          <a:prstGeom prst="rect">
            <a:avLst/>
          </a:prstGeom>
          <a:solidFill>
            <a:srgbClr val="C89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11185855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2C3E50"/>
                </a:solidFill>
              </a:rPr>
              <a:t>• </a:t>
            </a:r>
            <a:r>
              <a:rPr b="1" sz="1400">
                <a:solidFill>
                  <a:srgbClr val="174A35"/>
                </a:solidFill>
              </a:rPr>
              <a:t>In-app</a:t>
            </a:r>
            <a:r>
              <a:rPr sz="1400">
                <a:solidFill>
                  <a:srgbClr val="2C3E50"/>
                </a:solidFill>
              </a:rPr>
              <a:t>: </a:t>
            </a:r>
            <a:r>
              <a:rPr sz="1400">
                <a:solidFill>
                  <a:srgbClr val="174A35"/>
                </a:solidFill>
                <a:latin typeface="Consolas"/>
              </a:rPr>
              <a:t>/app/help</a:t>
            </a:r>
            <a:r>
              <a:rPr sz="1400">
                <a:solidFill>
                  <a:srgbClr val="2C3E50"/>
                </a:solidFill>
              </a:rPr>
              <a:t> — this user guide rendered in the browser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C3E50"/>
                </a:solidFill>
              </a:rPr>
              <a:t>• </a:t>
            </a:r>
            <a:r>
              <a:rPr b="1" sz="1400">
                <a:solidFill>
                  <a:srgbClr val="174A35"/>
                </a:solidFill>
              </a:rPr>
              <a:t>Copilot</a:t>
            </a:r>
            <a:r>
              <a:rPr sz="1400">
                <a:solidFill>
                  <a:srgbClr val="2C3E50"/>
                </a:solidFill>
              </a:rPr>
              <a:t>: ask any question on any workspace page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C3E50"/>
                </a:solidFill>
              </a:rPr>
              <a:t>• </a:t>
            </a:r>
            <a:r>
              <a:rPr b="1" sz="1400">
                <a:solidFill>
                  <a:srgbClr val="174A35"/>
                </a:solidFill>
              </a:rPr>
              <a:t>Support</a:t>
            </a:r>
            <a:r>
              <a:rPr sz="1400">
                <a:solidFill>
                  <a:srgbClr val="2C3E50"/>
                </a:solidFill>
              </a:rPr>
              <a:t>: contact@pehero.chat</a:t>
            </a:r>
          </a:p>
          <a:p>
            <a:pPr>
              <a:spcAft>
                <a:spcPts val="600"/>
              </a:spcAft>
            </a:pPr>
            <a:r>
              <a:rPr i="1" sz="1400">
                <a:solidFill>
                  <a:srgbClr val="2C3E50"/>
                </a:solidFill>
              </a:rPr>
              <a:t>PEHero — your Private Equity AI Agent Squad.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73952"/>
            <a:ext cx="11460175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B7278"/>
                </a:solidFill>
              </a:rPr>
              <a:t>PEHero — Your Private Equity AI Agent Squad · pehero.chat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